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ef10b165b04429" /><Relationship Type="http://schemas.openxmlformats.org/officeDocument/2006/relationships/extended-properties" Target="/docProps/app.xml" Id="Rdeb6a3bf0cc84833" /><Relationship Type="http://schemas.openxmlformats.org/officeDocument/2006/relationships/officeDocument" Target="/ppt/presentation.xml" Id="Raa1e960f21944d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62889742b499e"/>
  </p:sldMasterIdLst>
  <p:notesMasterIdLst>
    <p:notesMasterId xmlns:r="http://schemas.openxmlformats.org/officeDocument/2006/relationships" r:id="R5b4b9f3b35404227"/>
  </p:notesMasterIdLst>
  <p:sldIdLst>
    <p:sldId xmlns:r="http://schemas.openxmlformats.org/officeDocument/2006/relationships" id="256" r:id="R23aabc71bf8f41a5"/>
    <p:sldId xmlns:r="http://schemas.openxmlformats.org/officeDocument/2006/relationships" id="257" r:id="Rf63983f6e5e04d4d"/>
    <p:sldId xmlns:r="http://schemas.openxmlformats.org/officeDocument/2006/relationships" id="258" r:id="Rd8c7b82875f8437e"/>
    <p:sldId xmlns:r="http://schemas.openxmlformats.org/officeDocument/2006/relationships" id="259" r:id="R618b5bbd5e8d447e"/>
    <p:sldId xmlns:r="http://schemas.openxmlformats.org/officeDocument/2006/relationships" id="260" r:id="R31d196123e40461d"/>
    <p:sldId xmlns:r="http://schemas.openxmlformats.org/officeDocument/2006/relationships" id="261" r:id="Rd7ae7a68e5284850"/>
    <p:sldId xmlns:r="http://schemas.openxmlformats.org/officeDocument/2006/relationships" id="262" r:id="Rc86e05a0015040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b909a48fd44455" /><Relationship Type="http://schemas.openxmlformats.org/officeDocument/2006/relationships/slideMaster" Target="/ppt/slideMasters/slideMaster1.xml" Id="Rbbb62889742b499e" /><Relationship Type="http://schemas.openxmlformats.org/officeDocument/2006/relationships/notesMaster" Target="/ppt/notesMasters/notesMaster1.xml" Id="R5b4b9f3b35404227" /><Relationship Type="http://schemas.openxmlformats.org/officeDocument/2006/relationships/presProps" Target="/ppt/presProps.xml" Id="R247e7bebb9f94444" /><Relationship Type="http://schemas.openxmlformats.org/officeDocument/2006/relationships/tableStyles" Target="/ppt/tableStyles.xml" Id="Rbc7ed96f39b340ec" /><Relationship Type="http://schemas.openxmlformats.org/officeDocument/2006/relationships/slide" Target="/ppt/slides/slide1.xml" Id="R23aabc71bf8f41a5" /><Relationship Type="http://schemas.openxmlformats.org/officeDocument/2006/relationships/slide" Target="/ppt/slides/slide2.xml" Id="Rf63983f6e5e04d4d" /><Relationship Type="http://schemas.openxmlformats.org/officeDocument/2006/relationships/slide" Target="/ppt/slides/slide3.xml" Id="Rd8c7b82875f8437e" /><Relationship Type="http://schemas.openxmlformats.org/officeDocument/2006/relationships/slide" Target="/ppt/slides/slide4.xml" Id="R618b5bbd5e8d447e" /><Relationship Type="http://schemas.openxmlformats.org/officeDocument/2006/relationships/slide" Target="/ppt/slides/slide5.xml" Id="R31d196123e40461d" /><Relationship Type="http://schemas.openxmlformats.org/officeDocument/2006/relationships/slide" Target="/ppt/slides/slide6.xml" Id="Rd7ae7a68e5284850" /><Relationship Type="http://schemas.openxmlformats.org/officeDocument/2006/relationships/slide" Target="/ppt/slides/slide7.xml" Id="Rc86e05a0015040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9365d3c41b42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61ca1e415c4a1d" /><Relationship Type="http://schemas.openxmlformats.org/officeDocument/2006/relationships/notesMaster" Target="/ppt/notesMasters/notesMaster1.xml" Id="R32306c5cd47349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4e73cdf76548e9" /><Relationship Type="http://schemas.openxmlformats.org/officeDocument/2006/relationships/notesMaster" Target="/ppt/notesMasters/notesMaster1.xml" Id="Rca537313630542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d625f293e2414a" /><Relationship Type="http://schemas.openxmlformats.org/officeDocument/2006/relationships/notesMaster" Target="/ppt/notesMasters/notesMaster1.xml" Id="Rb88a8ec74b9a4a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186efa90f746a1" /><Relationship Type="http://schemas.openxmlformats.org/officeDocument/2006/relationships/notesMaster" Target="/ppt/notesMasters/notesMaster1.xml" Id="Rfe219131251448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2a067a02cb410a" /><Relationship Type="http://schemas.openxmlformats.org/officeDocument/2006/relationships/notesMaster" Target="/ppt/notesMasters/notesMaster1.xml" Id="R84d15fe32b154e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0460ea2fdf4915" /><Relationship Type="http://schemas.openxmlformats.org/officeDocument/2006/relationships/notesMaster" Target="/ppt/notesMasters/notesMaster1.xml" Id="R084444e8f57a4f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efce8f897f4e2a" /><Relationship Type="http://schemas.openxmlformats.org/officeDocument/2006/relationships/notesMaster" Target="/ppt/notesMasters/notesMaster1.xml" Id="R21fdc877859a4a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2be08a1d743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2543d2ef914221" /><Relationship Type="http://schemas.openxmlformats.org/officeDocument/2006/relationships/slideLayout" Target="/ppt/slideLayouts/slideLayout1.xml" Id="R6d3f44983f16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3f44983f164c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ab78f17bd4776" /><Relationship Type="http://schemas.openxmlformats.org/officeDocument/2006/relationships/notesSlide" Target="/ppt/notesSlides/notesSlide1.xml" Id="R862a6118bcf546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34108b4b84291" /><Relationship Type="http://schemas.openxmlformats.org/officeDocument/2006/relationships/notesSlide" Target="/ppt/notesSlides/notesSlide2.xml" Id="Re17482cba40d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66e6fb7cc4cf1" /><Relationship Type="http://schemas.openxmlformats.org/officeDocument/2006/relationships/notesSlide" Target="/ppt/notesSlides/notesSlide3.xml" Id="R017184686a354d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d7a5d57e0435b" /><Relationship Type="http://schemas.openxmlformats.org/officeDocument/2006/relationships/notesSlide" Target="/ppt/notesSlides/notesSlide4.xml" Id="R369621492d814e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7869220314b39" /><Relationship Type="http://schemas.openxmlformats.org/officeDocument/2006/relationships/notesSlide" Target="/ppt/notesSlides/notesSlide5.xml" Id="R271a6e10f8094f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a87b4be9243f9" /><Relationship Type="http://schemas.openxmlformats.org/officeDocument/2006/relationships/notesSlide" Target="/ppt/notesSlides/notesSlide6.xml" Id="R49fc19d53fce49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72bdf48e54cfe" /><Relationship Type="http://schemas.openxmlformats.org/officeDocument/2006/relationships/notesSlide" Target="/ppt/notesSlides/notesSlide7.xml" Id="Rd9482f1e70f54f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0E045-8053-40B5-B366-7F2D924E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53A43-31AD-4D12-9095-2B7AD102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00E8B-0507-4D97-83FA-244A4570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of Philadelphia / Department of Aviation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2325D-03B6-4413-83EE-4C631FB7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EXECUTIVE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1E3B6-5C9F-48FD-8549-6C2D33E4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5D3D4-87CB-4514-B772-F0AF83F3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CRM should convert airport passenger signals into accountable service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9C3C9-050B-46F2-8B1D-E3BB961E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C6F82"/>
                </a:solidFill>
                <a:latin typeface="Arial"/>
                <a:ea typeface="Arial"/>
                <a:cs typeface="Arial"/>
              </a:rPr>
              <a:t>The dashboard organizes public airport context, CRM data requests, privacy controls, feedback channels, and leadership actions across PHL and PNE.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8CC64-C55E-46C4-9DC1-0CEE0B0A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Public-source prototype. CRM, survey, accessibility, and passenger records require approved internal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A40FF-6C59-43E9-8B68-3FCB544E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F5212-ABCD-494D-9635-ADA54A2C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5C2B5-7735-40F1-BA44-ED71C61D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C6F82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3EBD5-2E0C-4F11-A32E-3B23271B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PHL + PNE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F7F20-AD8D-4430-BE72-6579F513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Passenger journey and reliever-airport relationship lenses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5705D-1553-4761-90AB-06BE35F8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622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182BC-03ED-4D8F-9A08-677EFA3E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C6F82"/>
                </a:solidFill>
                <a:latin typeface="Arial"/>
                <a:ea typeface="Arial"/>
                <a:cs typeface="Arial"/>
              </a:rPr>
              <a:t>PUBLIC ANCHORS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B268A-BA0E-4EBC-9DAC-B414DDF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051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80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805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E849C-1F45-4E25-8A7D-2EBFB256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67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Posting, PHL/PNE, accessibility, FAA, BTS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19B81-7149-484F-B19B-DA8A685F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B3612-EF46-49E4-A111-34771184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C6F82"/>
                </a:solidFill>
                <a:latin typeface="Arial"/>
                <a:ea typeface="Arial"/>
                <a:cs typeface="Arial"/>
              </a:rPr>
              <a:t>PRIVATE FEEDS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BC373-7C9D-4BF9-B64F-4F3D0D7F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65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6500"/>
                </a:solidFill>
                <a:latin typeface="Arial"/>
                <a:ea typeface="Arial"/>
                <a:cs typeface="Arial"/>
              </a:rPr>
              <a:t>Mapped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EEC4D-1743-4B01-946F-C74D1050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CRM, survey, digital, accessibility, PNE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0FD20E-E6F7-41A6-A156-E1D5723B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30D50-DEBE-4171-B949-33889AA2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C6F82"/>
                </a:solidFill>
                <a:latin typeface="Arial"/>
                <a:ea typeface="Arial"/>
                <a:cs typeface="Arial"/>
              </a:rPr>
              <a:t>PRIVACY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48BD5-21FD-4B49-B104-E169295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114B4-7449-4CBD-A711-B937AA53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PII, accessibility, retention, access controls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6BC7B-2FC7-4CB4-BE4A-74BE0B59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C19104-81D8-4C06-B185-F4A84E5D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84CBE-348C-47C0-AEF7-AA9B392F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Interview value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687B82-C797-484C-9A41-8C711D61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The artifact demonstrates airport CRM literacy, public-source discipline, passenger journey thinking, privacy-aware analytics, BI design, and executive action framing.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90958-C6D3-4D22-8C8F-8EBD2E88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725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6E40F2-6D51-4F0A-9EB3-4E663D54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DCCD5-BACE-4254-9F4A-E758A829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Operating thesis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33E571-0F98-4AEF-8028-1C79ACE7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A useful airport CRM dashboard does not simply count complaints. It connects journey friction to source quality, accountable owners, privacy controls, and service decisions.</a:t>
            </a:r>
          </a:p>
        </p:txBody>
      </p:sp>
    </p:spTree>
    <p:extLst>
      <p:ext uri="{BB962C8B-B14F-4D97-AF65-F5344CB8AC3E}">
        <p14:creationId xmlns:p14="http://schemas.microsoft.com/office/powerpoint/2010/main" val="1916833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D3CF5A-F257-4997-BC19-9549BB02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A8876-1C82-478C-800D-33EFF5EC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4566F-6197-44AB-96BF-0DD5CF4A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of Philadelphia / Department of Aviation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8585C-C116-4774-8424-5BBF78AF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CAPABILITY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5BB43-E289-46C6-B362-5E009A15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F2E94-D248-42B4-B8FD-3EF38BFE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The posting becomes a working analytics operating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81B3D-40DB-4CDC-8C3A-47A02C71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C6F82"/>
                </a:solidFill>
                <a:latin typeface="Arial"/>
                <a:ea typeface="Arial"/>
                <a:cs typeface="Arial"/>
              </a:rPr>
              <a:t>Each responsibility is represented as a dashboard module, data request, stakeholder workflow, or governance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5A947-2802-4046-B62E-BC5ABE54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Public-source prototype. CRM, survey, accessibility, and passenger records require approved internal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4B00D-B02A-41A3-82B4-510C126F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5021D-8EBC-4EDF-86E3-9EC29207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51713-FDE2-4FDB-B2F6-D2A902BC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07BB4-AC76-4414-8293-B3C50CB5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CRM platforms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BEA96-5B1D-4C1A-904F-FD01AE42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Cockpit, CRM feed blueprint, case taxonomy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2CCC0-4232-4DD3-97DB-C5B0767C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D2BDC-E29F-44CF-B69F-9C01AD1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7D285-1123-430B-AA55-9458682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Surveys and 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EFA74-8328-49D3-AA98-E6CB6BD5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04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Channel health, sentiment, response SLA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88FF5-80D1-46EE-9BA6-B8866534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285A5-968E-413D-9802-584F6A96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6994A-4B13-41B8-847C-B956A2F8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Passenger journey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D6B08-63B5-4699-A56E-A4B0353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Touchpoints, service themes, recovery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A66C8-B8B4-4DCE-A758-3E4ED8A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04E24-91A7-4B22-B7C1-62413C23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47788-6115-4767-B3E5-5EF07F60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Stakeholders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F7813E-32F8-4804-A093-BEFF63DA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Guest Experience, ADA, Operations, Marketing, 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ACD816-6F25-4D39-B8AE-A1C0F7D8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7670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85E785-AC74-49FB-9335-99B6FA6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767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672487-4DE9-47EB-8534-B929C0BE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291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Privacy and security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1F80A-C3A3-417E-82FC-AFA45FDE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PII, access, retention, lineage, audit trail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31A64B-3292-4E00-B36C-14C76886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306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1666FA-1F74-44AD-B4A2-9E29AF11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10A0F1-57A7-41EF-95C6-33ADA9FD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291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Dashboards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9554DA-CD9A-453A-AF98-9BFAFD26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Exports, source quality, decisions, roadmap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9E54AF-B3E8-4411-A68B-C5E64D30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Capability rule: no passenger insight becomes executive reporting until source owner, field definition, privacy treatment, and action path are visible.</a:t>
            </a:r>
          </a:p>
        </p:txBody>
      </p:sp>
    </p:spTree>
    <p:extLst>
      <p:ext uri="{BB962C8B-B14F-4D97-AF65-F5344CB8AC3E}">
        <p14:creationId xmlns:p14="http://schemas.microsoft.com/office/powerpoint/2010/main" val="1914915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F0054-1F71-4A1F-A14E-B556F49B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5D97D-8133-4D32-945A-E86AAB25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89273-56E8-4B56-8CE3-AE611F33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of Philadelphia / Department of Aviation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1E611-5AF4-48D2-8204-569229E0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EVIDENCE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97888-96C2-4F6C-89F3-2A63BF92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9D2A8-6728-4E84-93D6-ED322881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Public facts become CRM decisions only after the internal data request is explicit.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189BB-BB68-4765-AB39-3DD6295E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C6F82"/>
                </a:solidFill>
                <a:latin typeface="Arial"/>
                <a:ea typeface="Arial"/>
                <a:cs typeface="Arial"/>
              </a:rPr>
              <a:t>The dashboard connects each public observation to a passenger experience question, internal CRM data need, reporting artifact, and service improvement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2AE52-A289-48B2-8A1C-13067AA2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Public-source prototype. CRM, survey, accessibility, and passenger records require approved internal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E1295-E693-4170-9F57-2AE2C891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1C9C4-EC06-4514-A3E4-236AD5D7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53E42-8FFD-4ED5-8CB3-2293C8F3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146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Public 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E543B-272C-43F0-ABE2-7373E3F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19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06756-162A-447E-9BBA-04E6BE81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146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C84E2-10D3-4344-B811-3F2A42FE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146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CRM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2074E-68C3-491A-84BC-D184D9F1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19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3A3C7-65E3-47FD-887B-47B3D76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146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1AF15-EEAB-4821-8455-C1A413FE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146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Internal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7CDD3-D6AA-443C-96FF-53159BFF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1A4A1-0905-4B03-A7F1-3E2B380F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DB4FC-46B8-475A-AD62-A6EAA3E9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Dashboard artifact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DF8DE-1871-48A1-A3C8-0D813DC8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B7052-C858-4286-A776-AD8B692A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9AA40-511F-450B-94EB-D25FC7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146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B209E-C48A-4E35-8C0D-888729DC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A535A5-4AEE-4F97-8AF2-966B4DF9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5B9BC-F9FB-4183-BA9F-3ED3B5BC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PHL example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245262-505E-4CC2-B2A8-999DC56A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30M+ passengers and 126 gates become questions about journey-stage friction, survey coverage, response SLA, and digital self-service gaps.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810452-A6CA-4413-ABB4-1BAB40B5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B5D1E1-A493-4629-BFE6-023B2E91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54252A-CD09-4C9A-86A2-7A1310EC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481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Accessibility example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B9BA0-B01A-4742-A8CD-F8E8141E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1010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Public programs become a high-sensitivity lane that needs anonymized trends, restricted details, and clear handoff ownership.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07436A-ADA7-4C8E-A2D0-38BFB59F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95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3E728F-F428-4E3E-9980-787B4736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95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D69305-6ADE-4333-A616-D38C319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481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PNE example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49BA45-A870-43EA-BA0E-6162D87D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10100"/>
            <a:ext cx="281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PNE needs relationship-management reporting for pilots, tenants, corporate aviation users, facility requests, and community touchpoints.</a:t>
            </a:r>
          </a:p>
        </p:txBody>
      </p:sp>
    </p:spTree>
    <p:extLst>
      <p:ext uri="{BB962C8B-B14F-4D97-AF65-F5344CB8AC3E}">
        <p14:creationId xmlns:p14="http://schemas.microsoft.com/office/powerpoint/2010/main" val="2049667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815E5-9377-4D3F-9221-1C317D7F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A0324-311B-4994-9AB9-6344792A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4D202-580A-46A9-AF07-773745CF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of Philadelphia / Department of Aviation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4B1A4-C7BF-4DEC-9E5C-8DB48606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FEED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BDC99-85FD-4AFC-ACC2-7DA156D8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7CC52-A6E6-4D41-9EE0-86DE4F77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The production path is owner, cadence, quality gate, privacy control, then executive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93D0C-6BB1-4899-9134-8F2DFA4B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C6F82"/>
                </a:solidFill>
                <a:latin typeface="Arial"/>
                <a:ea typeface="Arial"/>
                <a:cs typeface="Arial"/>
              </a:rPr>
              <a:t>The prototype maps the CRM and passenger-experience feeds that would need IT/data partnership before automated leadership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336DA-1782-4F2C-A3E9-52F2A74C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Public-source prototype. CRM, survey, accessibility, and passenger records require approved internal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67781-2985-424F-A858-8C010D92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FD743-93F4-4971-90FC-39CEE840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0F76F-B7FF-47B2-A0D0-8DA48D45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446D6-365F-4984-8B82-9B553D1D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CRM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E80CD-E757-469E-A8E2-14CAE4EC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Daily | case ID, owner, theme, response SLA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09A6-F104-4A75-91E6-A022C79B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20BC1-3F57-406A-AC7C-BAD84E1A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C725C-9A4F-4799-BCFD-C8CE16C4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Survey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81A36-D043-45B4-844C-7B75254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861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Weekly | satisfaction, journey stage, sentiment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770AB-3425-469A-9395-426C4540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1C1E5-EECA-4E35-A64B-38E46F4A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3CB24-7D31-42EA-8E33-EC78133D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Digital touchpoints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9C2D8-B7D6-47FB-BDD8-77B8DACC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Daily | search intent, page path, language need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0AC64-F94A-4CEF-AAAF-EC27021A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9E253-A33E-4AB3-914C-B0015A8D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A6240-A770-4663-AD07-F6057E6B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Accessibility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4FD1DB-2EEE-45AD-8079-8CB501AE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Weekly | restricted support and complaint lane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2E532-9E03-4BE3-8626-509C63C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73029-065F-4542-BE48-E47F497D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0EDC7-5F10-4FB9-A304-EAA548D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Operations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8EBEF-A84A-4C55-81CB-0CCA6735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148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Peak/daily | disruption and facility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1301B7-AFDB-4D0F-B586-4286C531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43B02-6324-4FC0-A717-26A34DC1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D6ACFD-5423-47E4-AB34-9EB49BAB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529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PNE relationships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8CFA72-331E-4C5B-AA55-8D1309CE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148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Weekly | tenant, pilot, customs, facility request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C3401F-06B6-4598-8694-EB06BAAB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Connection rule: no feed becomes a decision metric until owner, cadence, field dictionary, privacy control, reconciliation rule, and escalation path are visible.</a:t>
            </a:r>
          </a:p>
        </p:txBody>
      </p:sp>
    </p:spTree>
    <p:extLst>
      <p:ext uri="{BB962C8B-B14F-4D97-AF65-F5344CB8AC3E}">
        <p14:creationId xmlns:p14="http://schemas.microsoft.com/office/powerpoint/2010/main" val="476016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BC83A-80CE-4D34-B90E-AB13C10A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FBCC1-B241-479E-8631-90F40E5B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2B415-A327-49D2-9793-58EE293D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of Philadelphia / Department of Aviation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E7667-6733-4683-A79D-127A1854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SOURCE QUALITY AND PRIVACY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EAF42-5402-4554-B82C-666E24DC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6AA07-A3BB-422C-B4AE-B7CE2D2F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CRM analytics must score trust before scaling insight.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6E346-7DF3-449C-AC7D-65E52F32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C6F82"/>
                </a:solidFill>
                <a:latin typeface="Arial"/>
                <a:ea typeface="Arial"/>
                <a:cs typeface="Arial"/>
              </a:rPr>
              <a:t>The scorecard makes source confidence inspectable and gives privacy/security a visible place in executive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67D79-4366-4028-B9CF-D7EFF215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Public-source prototype. CRM, survey, accessibility, and passenger records require approved internal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3F660-F3D2-41EC-A5D8-6F81A7F4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1DA37-F204-4A2F-BB97-D37AC8DB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3337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83432-760F-46AB-B3B6-77C0E9C5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4E2FE-0C94-4B7B-9A45-A07A44F9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Scoring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8F46C-6DF9-45BE-8190-7B21CAF7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3009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Overall score combines completeness, freshness, lineage, stewardship, and privacy readiness. CRM values remain illustrative until owners approve validation rules.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92468-0EE8-40D2-A129-83D0BD88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Public 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F54F0-BF99-4026-AFFC-532E56BE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B69E1-3629-4671-A493-E3F0DC7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182308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864E3-299C-404B-825B-66B95A41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87/100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FEDBF-2DC3-4B2D-B7B6-4D95818F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CRM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30941-24CC-431E-9075-E9016C09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60CEC-BFB7-4047-BB71-0B8BF26E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12782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5A45D-016D-4237-B11E-78987572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718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61/100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80780-12C7-404F-B166-B6FF11ED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Survey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704E8-B5F4-4C96-A119-ED0A43C5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C440A-F2E0-4AD7-9882-61A0139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466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D0FB3-6DCF-46CF-A1AC-CF9A0CE1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70/100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7C58B-1296-40A0-BD7B-537A577F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148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Accessibility workflow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1AE59E-1786-49AA-B4B7-97739CD1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31E1A-1001-43A6-8543-B43F589A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12153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3E3686-8DAE-4B55-8F70-50E2E3FA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148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58/100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10E24-1079-4D18-AA77-D63DD224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2095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AF5B60-9169-4454-802C-A5950CD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776E16-D5B4-4CC5-9944-B8C9A02E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384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Escalation logic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D23F9E-DBF1-47ED-8080-0EAAF16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00400"/>
            <a:ext cx="17716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If PII boundary, owner, response SLA, lineage, or restricted-access rule is missing, the metric stays out of leadership reporting.</a:t>
            </a:r>
          </a:p>
        </p:txBody>
      </p:sp>
    </p:spTree>
    <p:extLst>
      <p:ext uri="{BB962C8B-B14F-4D97-AF65-F5344CB8AC3E}">
        <p14:creationId xmlns:p14="http://schemas.microsoft.com/office/powerpoint/2010/main" val="2105540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63A0C-AD78-4F7A-B733-BD7C4665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3AC07-2423-45D2-B970-794C7BF2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0DF4F-8D76-4AB9-BAB3-BE10E428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of Philadelphia / Department of Aviation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2108A-9DFC-44C5-882B-D0E963C7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LEADERSHIP LENSES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C4EF6-DF00-4B24-A523-3CE73CE9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6A04B-2140-4FD5-B8A4-226F9051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PHL and PNE need different CRM views on the same data governance backbone.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9185E-E597-4EBB-8617-814774AD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C6F82"/>
                </a:solidFill>
                <a:latin typeface="Arial"/>
                <a:ea typeface="Arial"/>
                <a:cs typeface="Arial"/>
              </a:rPr>
              <a:t>A passenger-terminal journey and a reliever-airport relationship model can share source controls, reports, and leadership cadence without forcing identical metrics.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F4C10-7C93-45E4-9969-AFB03127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Public-source prototype. CRM, survey, accessibility, and passenger records require approved internal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151D6-3FBB-453D-9535-E6C9976F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193E9-1D94-4683-B0E6-2CAB8B6C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ED7F1-3EC6-4734-8B2E-A9F3E1C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26F7A-7CB6-45D8-A117-29EE0BFB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PHL leadership lens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C7CE2-49A4-4D3B-8B9B-A13D8AE4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44386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Passenger-scale journey analytics: surveys, complaints, digital touchpoints, accessibility support, terminal experience, service themes, and disruption recovery.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6DB09-E9CE-4693-89ED-ECB31863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CA1F7-F66E-4B39-8F4C-DA1756AA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72536"/>
                </a:solidFill>
                <a:latin typeface="Arial"/>
                <a:ea typeface="Arial"/>
                <a:cs typeface="Arial"/>
              </a:rPr>
              <a:t>Prioritize high-friction journey stages by theme, terminal, and owner.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89263-1EBD-4B17-90A5-4A53FA64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52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F25C0-40F2-4EC6-9E9C-17BC1581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72536"/>
                </a:solidFill>
                <a:latin typeface="Arial"/>
                <a:ea typeface="Arial"/>
                <a:cs typeface="Arial"/>
              </a:rPr>
              <a:t>Use privacy-aware accessibility trends to improve support without exposing sensitive records.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08518-FFA9-4C5D-8229-FEDB3CF1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52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25A0B-771B-4AAF-809C-1FA5D72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72536"/>
                </a:solidFill>
                <a:latin typeface="Arial"/>
                <a:ea typeface="Arial"/>
                <a:cs typeface="Arial"/>
              </a:rPr>
              <a:t>Connect digital self-service gaps to avoidable feedback volume.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693CA-EC96-456E-8B86-646F5C79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050F8-88CE-4E83-B612-3693F423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149EE-F5B5-4C6F-AEA3-C57BFE8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PNE leadership lens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B804A-2412-4976-936D-EB614E4B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44386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Reliever-airport relationship analytics: pilots, tenants, corporate aviation users, customs coordination, facility requests, and community touchpoints.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76289-D487-46E7-8A6D-B5E810A1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52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A7BFF-BE71-4A21-ABCB-B162F40B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72536"/>
                </a:solidFill>
                <a:latin typeface="Arial"/>
                <a:ea typeface="Arial"/>
                <a:cs typeface="Arial"/>
              </a:rPr>
              <a:t>Build a lightweight PNE CRM register before enterprise integration.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B2A0AA-AC88-456E-B3DE-4B6067C7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52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DDA09D-BC94-4807-9AAB-7E771433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72536"/>
                </a:solidFill>
                <a:latin typeface="Arial"/>
                <a:ea typeface="Arial"/>
                <a:cs typeface="Arial"/>
              </a:rPr>
              <a:t>Track relationship health by contact type, owner, facility, and follow-up status.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4A289-9FEB-4CEC-A1B8-642874EA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52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50D7E-993A-4165-82A7-8483BB04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05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72536"/>
                </a:solidFill>
                <a:latin typeface="Arial"/>
                <a:ea typeface="Arial"/>
                <a:cs typeface="Arial"/>
              </a:rPr>
              <a:t>Reconcile public PNE context before external-facing claims.</a:t>
            </a:r>
          </a:p>
        </p:txBody>
      </p:sp>
    </p:spTree>
    <p:extLst>
      <p:ext uri="{BB962C8B-B14F-4D97-AF65-F5344CB8AC3E}">
        <p14:creationId xmlns:p14="http://schemas.microsoft.com/office/powerpoint/2010/main" val="1772715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48CC3-BD0B-4086-BA4E-E74BC490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6A68C-AF5E-456C-ACBC-88D73DEF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F1A84-F872-44FC-9901-0B5E877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City of Philadelphia / Department of Aviation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2549B-4143-4F05-B509-BA6844F0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FIRST 90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7DB72-C78B-4A23-B5BF-4929B784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1B26C-CE28-4F74-9CDB-3B98051F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Build source trust before automating the CRM insight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A1747-5501-4A8C-85C0-A19DDF3E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C6F82"/>
                </a:solidFill>
                <a:latin typeface="Arial"/>
                <a:ea typeface="Arial"/>
                <a:cs typeface="Arial"/>
              </a:rPr>
              <a:t>The roadmap inventories sources, defines taxonomy, sets privacy controls, prototypes reporting, trains stakeholders, and then scopes AI-assisted theme detection.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8290D-14C9-439B-9F69-39CFA5C9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C6F82"/>
                </a:solidFill>
                <a:latin typeface="Arial"/>
                <a:ea typeface="Arial"/>
                <a:cs typeface="Arial"/>
              </a:rPr>
              <a:t>Public-source prototype. CRM, survey, accessibility, and passenger records require approved internal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5D7F9-3B7D-4194-A9C7-FC5D53D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5CED5-83A7-49DE-BC6D-62259828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740C3-F9D1-4ADA-86AF-E463A3FE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Days 1-15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304EF-08C6-4D78-932B-D8F4383B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Map CRM and feedback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E105C-B0B0-417D-B0F2-48D39810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200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3B460-F71E-4910-88BB-63A399A6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429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65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6500"/>
                </a:solidFill>
                <a:latin typeface="Arial"/>
                <a:ea typeface="Arial"/>
                <a:cs typeface="Arial"/>
              </a:rPr>
              <a:t>Days 16-30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0BC4A-A778-484A-8481-2D46566E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14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Define journey taxonomy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15D2B-CAA0-40C5-8E5D-1AC79DB5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00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07E05-8A4B-4CC7-98FE-E0D47C4A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29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Days 31-45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49AF6-B261-4AFA-AF12-6F14A8DD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Set privacy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30679-1928-44CB-A9C1-B68A6A5A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00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6AC4F-7192-4B6A-A3A1-3386A260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29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F4D9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F4D90"/>
                </a:solidFill>
                <a:latin typeface="Arial"/>
                <a:ea typeface="Arial"/>
                <a:cs typeface="Arial"/>
              </a:rPr>
              <a:t>Days 46-60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A674D-29A6-4BF9-B0B0-1B0C0BA6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14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Prototype dashboards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5FC0A-E508-4567-861A-C0777EA4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0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29AFF-5393-4479-B5AC-E3411F9A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805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805A"/>
                </a:solidFill>
                <a:latin typeface="Arial"/>
                <a:ea typeface="Arial"/>
                <a:cs typeface="Arial"/>
              </a:rPr>
              <a:t>Days 61-75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257BB-4A38-4F01-9A70-19D96414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Train stakeholders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14010-BD4D-45FE-BFA6-9354E82C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20040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AD013-F256-4AA3-87FC-5115BD1D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429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65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6500"/>
                </a:solidFill>
                <a:latin typeface="Arial"/>
                <a:ea typeface="Arial"/>
                <a:cs typeface="Arial"/>
              </a:rPr>
              <a:t>Days 76-90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BB509-5AE4-44E0-BA8E-8BABB4FE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7147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Prioritize automation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090C1-2D7C-46B1-BB58-18D7D6AD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77279-D3E7-4CE2-81A7-59E82BBB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D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E78AAB-9A56-45ED-BB0F-B0391F09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Decision cadence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4DF1B5-D2BF-463D-9D26-A7056483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Weekly owner check-ins, monthly source-quality review, and executive action queue for unresolved passenger experience gaps.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5AB85F-AC3B-42AB-8A6A-2E170D89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400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F97F1-ADE2-44B0-9396-578A8583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B10F71-3A8F-44CB-9B56-E601C0B8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054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5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36"/>
                </a:solidFill>
                <a:latin typeface="Arial"/>
                <a:ea typeface="Arial"/>
                <a:cs typeface="Arial"/>
              </a:rPr>
              <a:t>AI 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4DE03-9F97-493C-8868-CEAB460D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673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F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C6F82"/>
                </a:solidFill>
                <a:latin typeface="Arial"/>
                <a:ea typeface="Arial"/>
                <a:cs typeface="Arial"/>
              </a:rPr>
              <a:t>AI can summarize and flag themes only after source lineage, privacy rules, sampling limits, and human review controls are known.</a:t>
            </a:r>
          </a:p>
        </p:txBody>
      </p:sp>
    </p:spTree>
    <p:extLst>
      <p:ext uri="{BB962C8B-B14F-4D97-AF65-F5344CB8AC3E}">
        <p14:creationId xmlns:p14="http://schemas.microsoft.com/office/powerpoint/2010/main" val="813300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2026-06-18T14:51:07.3360000Z</dcterms:created>
  <dcterms:modified xsi:type="dcterms:W3CDTF">2026-06-18T14:51:07.3360000Z</dcterms:modified>
</coreProperties>
</file>