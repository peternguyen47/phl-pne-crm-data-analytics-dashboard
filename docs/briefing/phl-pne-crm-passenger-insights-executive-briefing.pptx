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5ef10b165b04429" /><Relationship Type="http://schemas.openxmlformats.org/officeDocument/2006/relationships/extended-properties" Target="/docProps/app.xml" Id="Rdeb6a3bf0cc84833" /><Relationship Type="http://schemas.openxmlformats.org/officeDocument/2006/relationships/officeDocument" Target="/ppt/presentation.xml" Id="Raa1e960f21944d80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1"/>
  </p:sldMasterIdLst>
  <p:notesMasterIdLst>
    <p:notesMasterId r:id="rIdNotesMaster1"/>
  </p:notes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  <p:sldId id="264" r:id="rIdSlide9"/>
    <p:sldId id="265" r:id="rIdSlide10"/>
  </p:sldIdLst>
  <p:sldSz cx="12192000" cy="68580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"1.0" encoding="UTF-8" standalone="yes"?><Relationships xmlns="http://schemas.openxmlformats.org/package/2006/relationships"><Relationship Id="rIdTheme1" Type="http://schemas.openxmlformats.org/officeDocument/2006/relationships/theme" Target="theme/theme1.xml"/><Relationship Id="rIdMaster1" Type="http://schemas.openxmlformats.org/officeDocument/2006/relationships/slideMaster" Target="slideMasters/slideMaster1.xml"/><Relationship Id="rIdNotesMaster1" Type="http://schemas.openxmlformats.org/officeDocument/2006/relationships/notesMaster" Target="notesMasters/notesMaster1.xml"/><Relationship Id="rIdPresProps" Type="http://schemas.openxmlformats.org/officeDocument/2006/relationships/presProps" Target="presProps.xml"/><Relationship Id="rIdTableStyles" Type="http://schemas.openxmlformats.org/officeDocument/2006/relationships/tableStyles" Target="tableStyle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Relationship Id="rIdSlide8" Type="http://schemas.openxmlformats.org/officeDocument/2006/relationships/slide" Target="slides/slide8.xml"/><Relationship Id="rIdSlide9" Type="http://schemas.openxmlformats.org/officeDocument/2006/relationships/slide" Target="slides/slide9.xml"/><Relationship Id="rIdSlide10" Type="http://schemas.openxmlformats.org/officeDocument/2006/relationships/slide" Target="slides/slide10.xml"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69365d3c41b429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62be08a1d7430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52543d2ef914221" /><Relationship Type="http://schemas.openxmlformats.org/officeDocument/2006/relationships/slideLayout" Target="/ppt/slideLayouts/slideLayout1.xml" Id="R6d3f44983f164c3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d3f44983f164c3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"1.0" encoding="UTF-8" standalone="yes"?><Relationships xmlns="http://schemas.openxmlformats.org/package/2006/relationships"><Relationship Id="rIdLayout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Layout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Layout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Layout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Layout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Layout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Layout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Layout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Layout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Layout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service-bar"/>
          <p:cNvSpPr/>
          <p:nvPr/>
        </p:nvSpPr>
        <p:spPr>
          <a:xfrm>
            <a:off x="0" y="0"/>
            <a:ext cx="12191695" cy="420624"/>
          </a:xfrm>
          <a:prstGeom prst="rect">
            <a:avLst/>
          </a:prstGeom>
          <a:solidFill>
            <a:srgbClr val="0F3B63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gold-bar"/>
          <p:cNvSpPr/>
          <p:nvPr/>
        </p:nvSpPr>
        <p:spPr>
          <a:xfrm>
            <a:off x="0" y="0"/>
            <a:ext cx="109728" cy="420624"/>
          </a:xfrm>
          <a:prstGeom prst="rect">
            <a:avLst/>
          </a:prstGeom>
          <a:solidFill>
            <a:srgbClr val="F3C613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agency"/>
          <p:cNvSpPr txBox="1"/>
          <p:nvPr/>
        </p:nvSpPr>
        <p:spPr>
          <a:xfrm>
            <a:off x="256032" y="73152"/>
            <a:ext cx="530352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City of Philadelphia / Department of Aviation</a:t>
            </a:r>
          </a:p>
        </p:txBody>
      </p:sp>
      <p:sp>
        <p:nvSpPr>
          <p:cNvPr id="5" name="eyebrow"/>
          <p:cNvSpPr txBox="1"/>
          <p:nvPr/>
        </p:nvSpPr>
        <p:spPr>
          <a:xfrm>
            <a:off x="8229600" y="73152"/>
            <a:ext cx="356616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 marL="0" indent="0">
              <a:spcBef>
                <a:spcPts val="0"/>
              </a:spcBef>
            </a:pPr>
            <a:r>
              <a:rPr lang="en-US" sz="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EXECUTIVE STORY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566928" y="713232"/>
            <a:ext cx="10881360" cy="43891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2650" b="1">
                <a:solidFill>
                  <a:srgbClr val="0F3B63"/>
                </a:solidFill>
                <a:latin typeface="Arial"/>
                <a:ea typeface="Arial"/>
                <a:cs typeface="Arial"/>
              </a:rPr>
              <a:t>CRM &amp; Passenger Intelligence Dashboard</a:t>
            </a:r>
          </a:p>
        </p:txBody>
      </p:sp>
      <p:sp>
        <p:nvSpPr>
          <p:cNvPr id="7" name="subtitle"/>
          <p:cNvSpPr txBox="1"/>
          <p:nvPr/>
        </p:nvSpPr>
        <p:spPr>
          <a:xfrm>
            <a:off x="585216" y="1152144"/>
            <a:ext cx="105613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1250">
                <a:solidFill>
                  <a:srgbClr val="5C6F82"/>
                </a:solidFill>
                <a:latin typeface="Arial"/>
                <a:ea typeface="Arial"/>
                <a:cs typeface="Arial"/>
              </a:rPr>
              <a:t>How PHL and PNE can convert passenger signals, feedback channels, and operational context into governed executive decisions.</a:t>
            </a:r>
          </a:p>
        </p:txBody>
      </p:sp>
      <p:sp>
        <p:nvSpPr>
          <p:cNvPr id="20" name="Mission bg"/>
          <p:cNvSpPr/>
          <p:nvPr/>
        </p:nvSpPr>
        <p:spPr>
          <a:xfrm>
            <a:off x="640080" y="1828800"/>
            <a:ext cx="3429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/>
          <a:lstStyle/>
          <a:p/>
        </p:txBody>
      </p:sp>
      <p:sp>
        <p:nvSpPr>
          <p:cNvPr id="21" name="Mission top"/>
          <p:cNvSpPr/>
          <p:nvPr/>
        </p:nvSpPr>
        <p:spPr>
          <a:xfrm>
            <a:off x="640080" y="1828800"/>
            <a:ext cx="3429000" cy="73152"/>
          </a:xfrm>
          <a:prstGeom prst="rect">
            <a:avLst/>
          </a:prstGeom>
          <a:solidFill>
            <a:srgbClr val="0F4D90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Mission text"/>
          <p:cNvSpPr txBox="1"/>
          <p:nvPr/>
        </p:nvSpPr>
        <p:spPr>
          <a:xfrm>
            <a:off x="685800" y="1865376"/>
            <a:ext cx="3337560" cy="1252728"/>
          </a:xfrm>
          <a:prstGeom prst="rect">
            <a:avLst/>
          </a:prstGeom>
          <a:noFill/>
          <a:ln>
            <a:noFill/>
          </a:ln>
        </p:spPr>
        <p:txBody>
          <a:bodyPr wrap="square" anchor="t" lIns="60960" tIns="60960" rIns="60960" bIns="60960"/>
          <a:lstStyle/>
          <a:p>
            <a:pPr algn="l" marL="0" indent="0">
              <a:spcBef>
                <a:spcPts val="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DASHBOARD STORY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Mission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Convert millions of passenger and customer interactions into intelligence that improves service, trust, and accountability.</a:t>
            </a:r>
          </a:p>
        </p:txBody>
      </p:sp>
      <p:sp>
        <p:nvSpPr>
          <p:cNvPr id="23" name="Operating model bg"/>
          <p:cNvSpPr/>
          <p:nvPr/>
        </p:nvSpPr>
        <p:spPr>
          <a:xfrm>
            <a:off x="4343400" y="1828800"/>
            <a:ext cx="3429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/>
          <a:lstStyle/>
          <a:p/>
        </p:txBody>
      </p:sp>
      <p:sp>
        <p:nvSpPr>
          <p:cNvPr id="24" name="Operating model top"/>
          <p:cNvSpPr/>
          <p:nvPr/>
        </p:nvSpPr>
        <p:spPr>
          <a:xfrm>
            <a:off x="4343400" y="1828800"/>
            <a:ext cx="3429000" cy="73152"/>
          </a:xfrm>
          <a:prstGeom prst="rect">
            <a:avLst/>
          </a:prstGeom>
          <a:solidFill>
            <a:srgbClr val="25805A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Operating model text"/>
          <p:cNvSpPr txBox="1"/>
          <p:nvPr/>
        </p:nvSpPr>
        <p:spPr>
          <a:xfrm>
            <a:off x="4389120" y="1865376"/>
            <a:ext cx="3337560" cy="1252728"/>
          </a:xfrm>
          <a:prstGeom prst="rect">
            <a:avLst/>
          </a:prstGeom>
          <a:noFill/>
          <a:ln>
            <a:noFill/>
          </a:ln>
        </p:spPr>
        <p:txBody>
          <a:bodyPr wrap="square" anchor="t" lIns="60960" tIns="60960" rIns="60960" bIns="60960"/>
          <a:lstStyle/>
          <a:p>
            <a:pPr algn="l" marL="0" indent="0">
              <a:spcBef>
                <a:spcPts val="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DASHBOARD STORY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Operating model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CRM stores organizational memory, engagement tools create communication loops, and enterprise data platforms reduce silos.</a:t>
            </a:r>
          </a:p>
        </p:txBody>
      </p:sp>
      <p:sp>
        <p:nvSpPr>
          <p:cNvPr id="26" name="Executive output bg"/>
          <p:cNvSpPr/>
          <p:nvPr/>
        </p:nvSpPr>
        <p:spPr>
          <a:xfrm>
            <a:off x="8046719" y="1828800"/>
            <a:ext cx="34290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/>
          <a:lstStyle/>
          <a:p/>
        </p:txBody>
      </p:sp>
      <p:sp>
        <p:nvSpPr>
          <p:cNvPr id="27" name="Executive output top"/>
          <p:cNvSpPr/>
          <p:nvPr/>
        </p:nvSpPr>
        <p:spPr>
          <a:xfrm>
            <a:off x="8046719" y="1828800"/>
            <a:ext cx="3429000" cy="73152"/>
          </a:xfrm>
          <a:prstGeom prst="rect">
            <a:avLst/>
          </a:prstGeom>
          <a:solidFill>
            <a:srgbClr val="B765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Executive output text"/>
          <p:cNvSpPr txBox="1"/>
          <p:nvPr/>
        </p:nvSpPr>
        <p:spPr>
          <a:xfrm>
            <a:off x="8092440" y="1865376"/>
            <a:ext cx="3337560" cy="1252728"/>
          </a:xfrm>
          <a:prstGeom prst="rect">
            <a:avLst/>
          </a:prstGeom>
          <a:noFill/>
          <a:ln>
            <a:noFill/>
          </a:ln>
        </p:spPr>
        <p:txBody>
          <a:bodyPr wrap="square" anchor="t" lIns="60960" tIns="60960" rIns="60960" bIns="60960"/>
          <a:lstStyle/>
          <a:p>
            <a:pPr algn="l" marL="0" indent="0">
              <a:spcBef>
                <a:spcPts val="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DASHBOARD STORY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Executive output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Show what happened, why it matters, what risk remains, who owns the action, and what outcome is expected.</a:t>
            </a:r>
          </a:p>
        </p:txBody>
      </p:sp>
      <p:sp>
        <p:nvSpPr>
          <p:cNvPr id="29" name="metric 0"/>
          <p:cNvSpPr txBox="1"/>
          <p:nvPr/>
        </p:nvSpPr>
        <p:spPr>
          <a:xfrm>
            <a:off x="658368" y="3520440"/>
            <a:ext cx="254203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anchor="t" lIns="76200" tIns="76200" rIns="76200" bIns="76200"/>
          <a:lstStyle/>
          <a:p>
            <a:pPr algn="l" marL="0" indent="0">
              <a:spcBef>
                <a:spcPts val="0"/>
              </a:spcBef>
            </a:pPr>
            <a:r>
              <a:rPr lang="en-US" sz="1350" b="1">
                <a:solidFill>
                  <a:srgbClr val="0F3B63"/>
                </a:solidFill>
                <a:latin typeface="Arial"/>
                <a:ea typeface="Arial"/>
                <a:cs typeface="Arial"/>
              </a:rPr>
              <a:t>30M+</a:t>
            </a:r>
          </a:p>
          <a:p>
            <a:pPr algn="l" marL="0" indent="0">
              <a:spcBef>
                <a:spcPts val="600"/>
              </a:spcBef>
            </a:pPr>
            <a:r>
              <a:rPr lang="en-US" sz="1350" b="1">
                <a:solidFill>
                  <a:srgbClr val="0F3B63"/>
                </a:solidFill>
                <a:latin typeface="Arial"/>
                <a:ea typeface="Arial"/>
                <a:cs typeface="Arial"/>
              </a:rPr>
              <a:t>2025 PHL passengers as public scale context</a:t>
            </a:r>
          </a:p>
        </p:txBody>
      </p:sp>
      <p:sp>
        <p:nvSpPr>
          <p:cNvPr id="30" name="metric 1"/>
          <p:cNvSpPr txBox="1"/>
          <p:nvPr/>
        </p:nvSpPr>
        <p:spPr>
          <a:xfrm>
            <a:off x="3493008" y="3520440"/>
            <a:ext cx="254203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anchor="t" lIns="76200" tIns="76200" rIns="76200" bIns="76200"/>
          <a:lstStyle/>
          <a:p>
            <a:pPr algn="l" marL="0" indent="0">
              <a:spcBef>
                <a:spcPts val="0"/>
              </a:spcBef>
            </a:pPr>
            <a:r>
              <a:rPr lang="en-US" sz="1350" b="1">
                <a:solidFill>
                  <a:srgbClr val="0F3B63"/>
                </a:solidFill>
                <a:latin typeface="Arial"/>
                <a:ea typeface="Arial"/>
                <a:cs typeface="Arial"/>
              </a:rPr>
              <a:t>126</a:t>
            </a:r>
          </a:p>
          <a:p>
            <a:pPr algn="l" marL="0" indent="0">
              <a:spcBef>
                <a:spcPts val="600"/>
              </a:spcBef>
            </a:pPr>
            <a:r>
              <a:rPr lang="en-US" sz="1350" b="1">
                <a:solidFill>
                  <a:srgbClr val="0F3B63"/>
                </a:solidFill>
                <a:latin typeface="Arial"/>
                <a:ea typeface="Arial"/>
                <a:cs typeface="Arial"/>
              </a:rPr>
              <a:t>PHL gates that shape journey-stage analytics</a:t>
            </a:r>
          </a:p>
        </p:txBody>
      </p:sp>
      <p:sp>
        <p:nvSpPr>
          <p:cNvPr id="31" name="metric 2"/>
          <p:cNvSpPr txBox="1"/>
          <p:nvPr/>
        </p:nvSpPr>
        <p:spPr>
          <a:xfrm>
            <a:off x="6327648" y="3520440"/>
            <a:ext cx="254203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anchor="t" lIns="76200" tIns="76200" rIns="76200" bIns="76200"/>
          <a:lstStyle/>
          <a:p>
            <a:pPr algn="l" marL="0" indent="0">
              <a:spcBef>
                <a:spcPts val="0"/>
              </a:spcBef>
            </a:pPr>
            <a:r>
              <a:rPr lang="en-US" sz="1350" b="1">
                <a:solidFill>
                  <a:srgbClr val="0F3B63"/>
                </a:solidFill>
                <a:latin typeface="Arial"/>
                <a:ea typeface="Arial"/>
                <a:cs typeface="Arial"/>
              </a:rPr>
              <a:t>PNE</a:t>
            </a:r>
          </a:p>
          <a:p>
            <a:pPr algn="l" marL="0" indent="0">
              <a:spcBef>
                <a:spcPts val="600"/>
              </a:spcBef>
            </a:pPr>
            <a:r>
              <a:rPr lang="en-US" sz="1350" b="1">
                <a:solidFill>
                  <a:srgbClr val="0F3B63"/>
                </a:solidFill>
                <a:latin typeface="Arial"/>
                <a:ea typeface="Arial"/>
                <a:cs typeface="Arial"/>
              </a:rPr>
              <a:t>Reliever-airport relationship lens</a:t>
            </a:r>
          </a:p>
        </p:txBody>
      </p:sp>
      <p:sp>
        <p:nvSpPr>
          <p:cNvPr id="32" name="metric 3"/>
          <p:cNvSpPr txBox="1"/>
          <p:nvPr/>
        </p:nvSpPr>
        <p:spPr>
          <a:xfrm>
            <a:off x="9162288" y="3520440"/>
            <a:ext cx="254203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anchor="t" lIns="76200" tIns="76200" rIns="76200" bIns="76200"/>
          <a:lstStyle/>
          <a:p>
            <a:pPr algn="l" marL="0" indent="0">
              <a:spcBef>
                <a:spcPts val="0"/>
              </a:spcBef>
            </a:pPr>
            <a:r>
              <a:rPr lang="en-US" sz="1350" b="1">
                <a:solidFill>
                  <a:srgbClr val="0F3B63"/>
                </a:solidFill>
                <a:latin typeface="Arial"/>
                <a:ea typeface="Arial"/>
                <a:cs typeface="Arial"/>
              </a:rPr>
              <a:t>8</a:t>
            </a:r>
          </a:p>
          <a:p>
            <a:pPr algn="l" marL="0" indent="0">
              <a:spcBef>
                <a:spcPts val="600"/>
              </a:spcBef>
            </a:pPr>
            <a:r>
              <a:rPr lang="en-US" sz="1350" b="1">
                <a:solidFill>
                  <a:srgbClr val="0F3B63"/>
                </a:solidFill>
                <a:latin typeface="Arial"/>
                <a:ea typeface="Arial"/>
                <a:cs typeface="Arial"/>
              </a:rPr>
              <a:t>Core passenger experience KPIs</a:t>
            </a:r>
          </a:p>
        </p:txBody>
      </p:sp>
      <p:sp>
        <p:nvSpPr>
          <p:cNvPr id="33" name="thesis"/>
          <p:cNvSpPr txBox="1"/>
          <p:nvPr/>
        </p:nvSpPr>
        <p:spPr>
          <a:xfrm>
            <a:off x="658368" y="4681728"/>
            <a:ext cx="10835640" cy="841248"/>
          </a:xfrm>
          <a:prstGeom prst="rect">
            <a:avLst/>
          </a:prstGeom>
          <a:solidFill>
            <a:srgbClr val="EEF5FC"/>
          </a:solidFill>
          <a:ln w="12700">
            <a:solidFill>
              <a:srgbClr val="D9E2EC"/>
            </a:solidFill>
          </a:ln>
        </p:spPr>
        <p:txBody>
          <a:bodyPr wrap="square" anchor="t" lIns="91440" tIns="91440" rIns="91440" bIns="91440"/>
          <a:lstStyle/>
          <a:p>
            <a:pPr algn="l" marL="0" indent="0">
              <a:spcBef>
                <a:spcPts val="0"/>
              </a:spcBef>
            </a:pPr>
            <a:r>
              <a:rPr lang="en-US" sz="1450">
                <a:solidFill>
                  <a:srgbClr val="172536"/>
                </a:solidFill>
                <a:latin typeface="Arial"/>
                <a:ea typeface="Arial"/>
                <a:cs typeface="Arial"/>
              </a:rPr>
              <a:t>Revised thesis: the dashboard is not a complaint counter. It is a governed customer intelligence system that links journey friction, source confidence, privacy controls, forecast signals, and decision ownership.</a:t>
            </a:r>
          </a:p>
        </p:txBody>
      </p:sp>
      <p:sp>
        <p:nvSpPr>
          <p:cNvPr id="800" name="footer"/>
          <p:cNvSpPr txBox="1"/>
          <p:nvPr/>
        </p:nvSpPr>
        <p:spPr>
          <a:xfrm>
            <a:off x="585216" y="6473952"/>
            <a:ext cx="813816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850">
                <a:solidFill>
                  <a:srgbClr val="5C6F82"/>
                </a:solidFill>
                <a:latin typeface="Arial"/>
                <a:ea typeface="Arial"/>
                <a:cs typeface="Arial"/>
              </a:rPr>
              <a:t>Public-source prototype. CRM, survey, accessibility, passenger, and PNE relationship records require approved internal systems and governance controls.</a:t>
            </a:r>
          </a:p>
        </p:txBody>
      </p:sp>
      <p:sp>
        <p:nvSpPr>
          <p:cNvPr id="801" name="slide-number"/>
          <p:cNvSpPr txBox="1"/>
          <p:nvPr/>
        </p:nvSpPr>
        <p:spPr>
          <a:xfrm>
            <a:off x="10835640" y="647395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 marL="0" indent="0">
              <a:spcBef>
                <a:spcPts val="0"/>
              </a:spcBef>
            </a:pPr>
            <a:r>
              <a:rPr lang="en-US" sz="900" b="1">
                <a:solidFill>
                  <a:srgbClr val="5C6F82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service-bar"/>
          <p:cNvSpPr/>
          <p:nvPr/>
        </p:nvSpPr>
        <p:spPr>
          <a:xfrm>
            <a:off x="0" y="0"/>
            <a:ext cx="12191695" cy="420624"/>
          </a:xfrm>
          <a:prstGeom prst="rect">
            <a:avLst/>
          </a:prstGeom>
          <a:solidFill>
            <a:srgbClr val="0F3B63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gold-bar"/>
          <p:cNvSpPr/>
          <p:nvPr/>
        </p:nvSpPr>
        <p:spPr>
          <a:xfrm>
            <a:off x="0" y="0"/>
            <a:ext cx="109728" cy="420624"/>
          </a:xfrm>
          <a:prstGeom prst="rect">
            <a:avLst/>
          </a:prstGeom>
          <a:solidFill>
            <a:srgbClr val="F3C613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agency"/>
          <p:cNvSpPr txBox="1"/>
          <p:nvPr/>
        </p:nvSpPr>
        <p:spPr>
          <a:xfrm>
            <a:off x="256032" y="73152"/>
            <a:ext cx="530352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City of Philadelphia / Department of Aviation</a:t>
            </a:r>
          </a:p>
        </p:txBody>
      </p:sp>
      <p:sp>
        <p:nvSpPr>
          <p:cNvPr id="5" name="eyebrow"/>
          <p:cNvSpPr txBox="1"/>
          <p:nvPr/>
        </p:nvSpPr>
        <p:spPr>
          <a:xfrm>
            <a:off x="8229600" y="73152"/>
            <a:ext cx="356616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 marL="0" indent="0">
              <a:spcBef>
                <a:spcPts val="0"/>
              </a:spcBef>
            </a:pPr>
            <a:r>
              <a:rPr lang="en-US" sz="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KPI FRAMEWORK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566928" y="713232"/>
            <a:ext cx="10881360" cy="43891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2650" b="1">
                <a:solidFill>
                  <a:srgbClr val="0F3B63"/>
                </a:solidFill>
                <a:latin typeface="Arial"/>
                <a:ea typeface="Arial"/>
                <a:cs typeface="Arial"/>
              </a:rPr>
              <a:t>Passenger Experience KPIs For Executive Review</a:t>
            </a:r>
          </a:p>
        </p:txBody>
      </p:sp>
      <p:sp>
        <p:nvSpPr>
          <p:cNvPr id="7" name="subtitle"/>
          <p:cNvSpPr txBox="1"/>
          <p:nvPr/>
        </p:nvSpPr>
        <p:spPr>
          <a:xfrm>
            <a:off x="585216" y="1152144"/>
            <a:ext cx="105613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1250">
                <a:solidFill>
                  <a:srgbClr val="5C6F82"/>
                </a:solidFill>
                <a:latin typeface="Arial"/>
                <a:ea typeface="Arial"/>
                <a:cs typeface="Arial"/>
              </a:rPr>
              <a:t>The dashboard keeps the metric set small enough for leadership, but complete enough to explain quality, effort, response, recovery, and scale.</a:t>
            </a:r>
          </a:p>
        </p:txBody>
      </p:sp>
      <p:sp>
        <p:nvSpPr>
          <p:cNvPr id="20" name="Satisfaction card"/>
          <p:cNvSpPr/>
          <p:nvPr/>
        </p:nvSpPr>
        <p:spPr>
          <a:xfrm>
            <a:off x="594360" y="1828800"/>
            <a:ext cx="260604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/>
          <a:lstStyle/>
          <a:p/>
        </p:txBody>
      </p:sp>
      <p:sp>
        <p:nvSpPr>
          <p:cNvPr id="21" name="Satisfaction accent"/>
          <p:cNvSpPr/>
          <p:nvPr/>
        </p:nvSpPr>
        <p:spPr>
          <a:xfrm>
            <a:off x="594360" y="1828800"/>
            <a:ext cx="2606040" cy="73152"/>
          </a:xfrm>
          <a:prstGeom prst="rect">
            <a:avLst/>
          </a:prstGeom>
          <a:solidFill>
            <a:srgbClr val="B765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Satisfaction text"/>
          <p:cNvSpPr txBox="1"/>
          <p:nvPr/>
        </p:nvSpPr>
        <p:spPr>
          <a:xfrm>
            <a:off x="685800" y="1938528"/>
            <a:ext cx="2423160" cy="98755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950">
                <a:solidFill>
                  <a:srgbClr val="172536"/>
                </a:solidFill>
                <a:latin typeface="Arial"/>
                <a:ea typeface="Arial"/>
                <a:cs typeface="Arial"/>
              </a:rPr>
              <a:t>SATISFACTION</a:t>
            </a:r>
          </a:p>
          <a:p>
            <a:pPr algn="l" marL="0" indent="0">
              <a:spcBef>
                <a:spcPts val="600"/>
              </a:spcBef>
            </a:pPr>
            <a:r>
              <a:rPr lang="en-US" sz="950">
                <a:solidFill>
                  <a:srgbClr val="172536"/>
                </a:solidFill>
                <a:latin typeface="Arial"/>
                <a:ea typeface="Arial"/>
                <a:cs typeface="Arial"/>
              </a:rPr>
              <a:t>7.8 / 10</a:t>
            </a:r>
          </a:p>
          <a:p>
            <a:pPr algn="l" marL="0" indent="0">
              <a:spcBef>
                <a:spcPts val="600"/>
              </a:spcBef>
            </a:pPr>
            <a:r>
              <a:rPr lang="en-US" sz="950">
                <a:solidFill>
                  <a:srgbClr val="172536"/>
                </a:solidFill>
                <a:latin typeface="Arial"/>
                <a:ea typeface="Arial"/>
                <a:cs typeface="Arial"/>
              </a:rPr>
              <a:t>Target 8.5. Shows whether investments are visible to passengers.</a:t>
            </a:r>
          </a:p>
        </p:txBody>
      </p:sp>
      <p:sp>
        <p:nvSpPr>
          <p:cNvPr id="23" name="NPS signal card"/>
          <p:cNvSpPr/>
          <p:nvPr/>
        </p:nvSpPr>
        <p:spPr>
          <a:xfrm>
            <a:off x="3447288" y="1828800"/>
            <a:ext cx="260604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/>
          <a:lstStyle/>
          <a:p/>
        </p:txBody>
      </p:sp>
      <p:sp>
        <p:nvSpPr>
          <p:cNvPr id="24" name="NPS signal accent"/>
          <p:cNvSpPr/>
          <p:nvPr/>
        </p:nvSpPr>
        <p:spPr>
          <a:xfrm>
            <a:off x="3447288" y="1828800"/>
            <a:ext cx="2606040" cy="73152"/>
          </a:xfrm>
          <a:prstGeom prst="rect">
            <a:avLst/>
          </a:prstGeom>
          <a:solidFill>
            <a:srgbClr val="B765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NPS signal text"/>
          <p:cNvSpPr txBox="1"/>
          <p:nvPr/>
        </p:nvSpPr>
        <p:spPr>
          <a:xfrm>
            <a:off x="3538728" y="1938528"/>
            <a:ext cx="2423160" cy="98755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950">
                <a:solidFill>
                  <a:srgbClr val="172536"/>
                </a:solidFill>
                <a:latin typeface="Arial"/>
                <a:ea typeface="Arial"/>
                <a:cs typeface="Arial"/>
              </a:rPr>
              <a:t>NPS SIGNAL</a:t>
            </a:r>
          </a:p>
          <a:p>
            <a:pPr algn="l" marL="0" indent="0">
              <a:spcBef>
                <a:spcPts val="600"/>
              </a:spcBef>
            </a:pPr>
            <a:r>
              <a:rPr lang="en-US" sz="950">
                <a:solidFill>
                  <a:srgbClr val="172536"/>
                </a:solidFill>
                <a:latin typeface="Arial"/>
                <a:ea typeface="Arial"/>
                <a:cs typeface="Arial"/>
              </a:rPr>
              <a:t>+34</a:t>
            </a:r>
          </a:p>
          <a:p>
            <a:pPr algn="l" marL="0" indent="0">
              <a:spcBef>
                <a:spcPts val="600"/>
              </a:spcBef>
            </a:pPr>
            <a:r>
              <a:rPr lang="en-US" sz="950">
                <a:solidFill>
                  <a:srgbClr val="172536"/>
                </a:solidFill>
                <a:latin typeface="Arial"/>
                <a:ea typeface="Arial"/>
                <a:cs typeface="Arial"/>
              </a:rPr>
              <a:t>Target +45. Separates loyalty risk from one-time friction.</a:t>
            </a:r>
          </a:p>
        </p:txBody>
      </p:sp>
      <p:sp>
        <p:nvSpPr>
          <p:cNvPr id="26" name="Effort score card"/>
          <p:cNvSpPr/>
          <p:nvPr/>
        </p:nvSpPr>
        <p:spPr>
          <a:xfrm>
            <a:off x="6300216" y="1828800"/>
            <a:ext cx="260604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/>
          <a:lstStyle/>
          <a:p/>
        </p:txBody>
      </p:sp>
      <p:sp>
        <p:nvSpPr>
          <p:cNvPr id="27" name="Effort score accent"/>
          <p:cNvSpPr/>
          <p:nvPr/>
        </p:nvSpPr>
        <p:spPr>
          <a:xfrm>
            <a:off x="6300216" y="1828800"/>
            <a:ext cx="2606040" cy="73152"/>
          </a:xfrm>
          <a:prstGeom prst="rect">
            <a:avLst/>
          </a:prstGeom>
          <a:solidFill>
            <a:srgbClr val="B765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Effort score text"/>
          <p:cNvSpPr txBox="1"/>
          <p:nvPr/>
        </p:nvSpPr>
        <p:spPr>
          <a:xfrm>
            <a:off x="6391656" y="1938528"/>
            <a:ext cx="2423160" cy="98755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950">
                <a:solidFill>
                  <a:srgbClr val="172536"/>
                </a:solidFill>
                <a:latin typeface="Arial"/>
                <a:ea typeface="Arial"/>
                <a:cs typeface="Arial"/>
              </a:rPr>
              <a:t>EFFORT SCORE</a:t>
            </a:r>
          </a:p>
          <a:p>
            <a:pPr algn="l" marL="0" indent="0">
              <a:spcBef>
                <a:spcPts val="600"/>
              </a:spcBef>
            </a:pPr>
            <a:r>
              <a:rPr lang="en-US" sz="950">
                <a:solidFill>
                  <a:srgbClr val="172536"/>
                </a:solidFill>
                <a:latin typeface="Arial"/>
                <a:ea typeface="Arial"/>
                <a:cs typeface="Arial"/>
              </a:rPr>
              <a:t>3.1 / 5</a:t>
            </a:r>
          </a:p>
          <a:p>
            <a:pPr algn="l" marL="0" indent="0">
              <a:spcBef>
                <a:spcPts val="600"/>
              </a:spcBef>
            </a:pPr>
            <a:r>
              <a:rPr lang="en-US" sz="950">
                <a:solidFill>
                  <a:srgbClr val="172536"/>
                </a:solidFill>
                <a:latin typeface="Arial"/>
                <a:ea typeface="Arial"/>
                <a:cs typeface="Arial"/>
              </a:rPr>
              <a:t>Target 4.1. Measures how easy it is to park, navigate, request help, and resolve issues.</a:t>
            </a:r>
          </a:p>
        </p:txBody>
      </p:sp>
      <p:sp>
        <p:nvSpPr>
          <p:cNvPr id="29" name="Complaint rate card"/>
          <p:cNvSpPr/>
          <p:nvPr/>
        </p:nvSpPr>
        <p:spPr>
          <a:xfrm>
            <a:off x="9153144" y="1828800"/>
            <a:ext cx="260604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/>
          <a:lstStyle/>
          <a:p/>
        </p:txBody>
      </p:sp>
      <p:sp>
        <p:nvSpPr>
          <p:cNvPr id="30" name="Complaint rate accent"/>
          <p:cNvSpPr/>
          <p:nvPr/>
        </p:nvSpPr>
        <p:spPr>
          <a:xfrm>
            <a:off x="9153144" y="1828800"/>
            <a:ext cx="2606040" cy="73152"/>
          </a:xfrm>
          <a:prstGeom prst="rect">
            <a:avLst/>
          </a:prstGeom>
          <a:solidFill>
            <a:srgbClr val="B765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Complaint rate text"/>
          <p:cNvSpPr txBox="1"/>
          <p:nvPr/>
        </p:nvSpPr>
        <p:spPr>
          <a:xfrm>
            <a:off x="9244584" y="1938528"/>
            <a:ext cx="2423160" cy="98755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950">
                <a:solidFill>
                  <a:srgbClr val="172536"/>
                </a:solidFill>
                <a:latin typeface="Arial"/>
                <a:ea typeface="Arial"/>
                <a:cs typeface="Arial"/>
              </a:rPr>
              <a:t>COMPLAINT RATE</a:t>
            </a:r>
          </a:p>
          <a:p>
            <a:pPr algn="l" marL="0" indent="0">
              <a:spcBef>
                <a:spcPts val="600"/>
              </a:spcBef>
            </a:pPr>
            <a:r>
              <a:rPr lang="en-US" sz="950">
                <a:solidFill>
                  <a:srgbClr val="172536"/>
                </a:solidFill>
                <a:latin typeface="Arial"/>
                <a:ea typeface="Arial"/>
                <a:cs typeface="Arial"/>
              </a:rPr>
              <a:t>2.1 / 10k</a:t>
            </a:r>
          </a:p>
          <a:p>
            <a:pPr algn="l" marL="0" indent="0">
              <a:spcBef>
                <a:spcPts val="600"/>
              </a:spcBef>
            </a:pPr>
            <a:r>
              <a:rPr lang="en-US" sz="950">
                <a:solidFill>
                  <a:srgbClr val="172536"/>
                </a:solidFill>
                <a:latin typeface="Arial"/>
                <a:ea typeface="Arial"/>
                <a:cs typeface="Arial"/>
              </a:rPr>
              <a:t>Target &lt;1.5. Normalizes complaint volume against passenger scale.</a:t>
            </a:r>
          </a:p>
        </p:txBody>
      </p:sp>
      <p:sp>
        <p:nvSpPr>
          <p:cNvPr id="32" name="Response time card"/>
          <p:cNvSpPr/>
          <p:nvPr/>
        </p:nvSpPr>
        <p:spPr>
          <a:xfrm>
            <a:off x="594360" y="3401568"/>
            <a:ext cx="260604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/>
          <a:lstStyle/>
          <a:p/>
        </p:txBody>
      </p:sp>
      <p:sp>
        <p:nvSpPr>
          <p:cNvPr id="33" name="Response time accent"/>
          <p:cNvSpPr/>
          <p:nvPr/>
        </p:nvSpPr>
        <p:spPr>
          <a:xfrm>
            <a:off x="594360" y="3401568"/>
            <a:ext cx="2606040" cy="73152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Response time text"/>
          <p:cNvSpPr txBox="1"/>
          <p:nvPr/>
        </p:nvSpPr>
        <p:spPr>
          <a:xfrm>
            <a:off x="685800" y="3511296"/>
            <a:ext cx="2423160" cy="98755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950">
                <a:solidFill>
                  <a:srgbClr val="172536"/>
                </a:solidFill>
                <a:latin typeface="Arial"/>
                <a:ea typeface="Arial"/>
                <a:cs typeface="Arial"/>
              </a:rPr>
              <a:t>RESPONSE TIME</a:t>
            </a:r>
          </a:p>
          <a:p>
            <a:pPr algn="l" marL="0" indent="0">
              <a:spcBef>
                <a:spcPts val="600"/>
              </a:spcBef>
            </a:pPr>
            <a:r>
              <a:rPr lang="en-US" sz="950">
                <a:solidFill>
                  <a:srgbClr val="172536"/>
                </a:solidFill>
                <a:latin typeface="Arial"/>
                <a:ea typeface="Arial"/>
                <a:cs typeface="Arial"/>
              </a:rPr>
              <a:t>36 hours</a:t>
            </a:r>
          </a:p>
          <a:p>
            <a:pPr algn="l" marL="0" indent="0">
              <a:spcBef>
                <a:spcPts val="600"/>
              </a:spcBef>
            </a:pPr>
            <a:r>
              <a:rPr lang="en-US" sz="950">
                <a:solidFill>
                  <a:srgbClr val="172536"/>
                </a:solidFill>
                <a:latin typeface="Arial"/>
                <a:ea typeface="Arial"/>
                <a:cs typeface="Arial"/>
              </a:rPr>
              <a:t>Target &lt;24. Holds teams accountable for timely acknowledgment.</a:t>
            </a:r>
          </a:p>
        </p:txBody>
      </p:sp>
      <p:sp>
        <p:nvSpPr>
          <p:cNvPr id="35" name="Resolution time card"/>
          <p:cNvSpPr/>
          <p:nvPr/>
        </p:nvSpPr>
        <p:spPr>
          <a:xfrm>
            <a:off x="3447288" y="3401568"/>
            <a:ext cx="260604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/>
          <a:lstStyle/>
          <a:p/>
        </p:txBody>
      </p:sp>
      <p:sp>
        <p:nvSpPr>
          <p:cNvPr id="36" name="Resolution time accent"/>
          <p:cNvSpPr/>
          <p:nvPr/>
        </p:nvSpPr>
        <p:spPr>
          <a:xfrm>
            <a:off x="3447288" y="3401568"/>
            <a:ext cx="2606040" cy="73152"/>
          </a:xfrm>
          <a:prstGeom prst="rect">
            <a:avLst/>
          </a:prstGeom>
          <a:solidFill>
            <a:srgbClr val="B765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Resolution time text"/>
          <p:cNvSpPr txBox="1"/>
          <p:nvPr/>
        </p:nvSpPr>
        <p:spPr>
          <a:xfrm>
            <a:off x="3538728" y="3511296"/>
            <a:ext cx="2423160" cy="98755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950">
                <a:solidFill>
                  <a:srgbClr val="172536"/>
                </a:solidFill>
                <a:latin typeface="Arial"/>
                <a:ea typeface="Arial"/>
                <a:cs typeface="Arial"/>
              </a:rPr>
              <a:t>RESOLUTION TIME</a:t>
            </a:r>
          </a:p>
          <a:p>
            <a:pPr algn="l" marL="0" indent="0">
              <a:spcBef>
                <a:spcPts val="600"/>
              </a:spcBef>
            </a:pPr>
            <a:r>
              <a:rPr lang="en-US" sz="950">
                <a:solidFill>
                  <a:srgbClr val="172536"/>
                </a:solidFill>
                <a:latin typeface="Arial"/>
                <a:ea typeface="Arial"/>
                <a:cs typeface="Arial"/>
              </a:rPr>
              <a:t>4.8 days</a:t>
            </a:r>
          </a:p>
          <a:p>
            <a:pPr algn="l" marL="0" indent="0">
              <a:spcBef>
                <a:spcPts val="600"/>
              </a:spcBef>
            </a:pPr>
            <a:r>
              <a:rPr lang="en-US" sz="950">
                <a:solidFill>
                  <a:srgbClr val="172536"/>
                </a:solidFill>
                <a:latin typeface="Arial"/>
                <a:ea typeface="Arial"/>
                <a:cs typeface="Arial"/>
              </a:rPr>
              <a:t>Target &lt;3. Distinguishes routing from actual closure.</a:t>
            </a:r>
          </a:p>
        </p:txBody>
      </p:sp>
      <p:sp>
        <p:nvSpPr>
          <p:cNvPr id="38" name="Service quality card"/>
          <p:cNvSpPr/>
          <p:nvPr/>
        </p:nvSpPr>
        <p:spPr>
          <a:xfrm>
            <a:off x="6300216" y="3401568"/>
            <a:ext cx="260604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/>
          <a:lstStyle/>
          <a:p/>
        </p:txBody>
      </p:sp>
      <p:sp>
        <p:nvSpPr>
          <p:cNvPr id="39" name="Service quality accent"/>
          <p:cNvSpPr/>
          <p:nvPr/>
        </p:nvSpPr>
        <p:spPr>
          <a:xfrm>
            <a:off x="6300216" y="3401568"/>
            <a:ext cx="2606040" cy="73152"/>
          </a:xfrm>
          <a:prstGeom prst="rect">
            <a:avLst/>
          </a:prstGeom>
          <a:solidFill>
            <a:srgbClr val="B76500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Service quality text"/>
          <p:cNvSpPr txBox="1"/>
          <p:nvPr/>
        </p:nvSpPr>
        <p:spPr>
          <a:xfrm>
            <a:off x="6391656" y="3511296"/>
            <a:ext cx="2423160" cy="98755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950">
                <a:solidFill>
                  <a:srgbClr val="172536"/>
                </a:solidFill>
                <a:latin typeface="Arial"/>
                <a:ea typeface="Arial"/>
                <a:cs typeface="Arial"/>
              </a:rPr>
              <a:t>SERVICE QUALITY</a:t>
            </a:r>
          </a:p>
          <a:p>
            <a:pPr algn="l" marL="0" indent="0">
              <a:spcBef>
                <a:spcPts val="600"/>
              </a:spcBef>
            </a:pPr>
            <a:r>
              <a:rPr lang="en-US" sz="950">
                <a:solidFill>
                  <a:srgbClr val="172536"/>
                </a:solidFill>
                <a:latin typeface="Arial"/>
                <a:ea typeface="Arial"/>
                <a:cs typeface="Arial"/>
              </a:rPr>
              <a:t>71 / 100</a:t>
            </a:r>
          </a:p>
          <a:p>
            <a:pPr algn="l" marL="0" indent="0">
              <a:spcBef>
                <a:spcPts val="600"/>
              </a:spcBef>
            </a:pPr>
            <a:r>
              <a:rPr lang="en-US" sz="950">
                <a:solidFill>
                  <a:srgbClr val="172536"/>
                </a:solidFill>
                <a:latin typeface="Arial"/>
                <a:ea typeface="Arial"/>
                <a:cs typeface="Arial"/>
              </a:rPr>
              <a:t>Target 84. Summarizes cleanliness, wayfinding, accessibility, helpfulness, and disruption communication.</a:t>
            </a:r>
          </a:p>
        </p:txBody>
      </p:sp>
      <p:sp>
        <p:nvSpPr>
          <p:cNvPr id="41" name="Traffic context card"/>
          <p:cNvSpPr/>
          <p:nvPr/>
        </p:nvSpPr>
        <p:spPr>
          <a:xfrm>
            <a:off x="9153144" y="3401568"/>
            <a:ext cx="260604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/>
          <a:lstStyle/>
          <a:p/>
        </p:txBody>
      </p:sp>
      <p:sp>
        <p:nvSpPr>
          <p:cNvPr id="42" name="Traffic context accent"/>
          <p:cNvSpPr/>
          <p:nvPr/>
        </p:nvSpPr>
        <p:spPr>
          <a:xfrm>
            <a:off x="9153144" y="3401568"/>
            <a:ext cx="2606040" cy="73152"/>
          </a:xfrm>
          <a:prstGeom prst="rect">
            <a:avLst/>
          </a:prstGeom>
          <a:solidFill>
            <a:srgbClr val="25805A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Traffic context text"/>
          <p:cNvSpPr txBox="1"/>
          <p:nvPr/>
        </p:nvSpPr>
        <p:spPr>
          <a:xfrm>
            <a:off x="9244584" y="3511296"/>
            <a:ext cx="2423160" cy="98755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950">
                <a:solidFill>
                  <a:srgbClr val="172536"/>
                </a:solidFill>
                <a:latin typeface="Arial"/>
                <a:ea typeface="Arial"/>
                <a:cs typeface="Arial"/>
              </a:rPr>
              <a:t>TRAFFIC CONTEXT</a:t>
            </a:r>
          </a:p>
          <a:p>
            <a:pPr algn="l" marL="0" indent="0">
              <a:spcBef>
                <a:spcPts val="600"/>
              </a:spcBef>
            </a:pPr>
            <a:r>
              <a:rPr lang="en-US" sz="950">
                <a:solidFill>
                  <a:srgbClr val="172536"/>
                </a:solidFill>
                <a:latin typeface="Arial"/>
                <a:ea typeface="Arial"/>
                <a:cs typeface="Arial"/>
              </a:rPr>
              <a:t>30M+</a:t>
            </a:r>
          </a:p>
          <a:p>
            <a:pPr algn="l" marL="0" indent="0">
              <a:spcBef>
                <a:spcPts val="600"/>
              </a:spcBef>
            </a:pPr>
            <a:r>
              <a:rPr lang="en-US" sz="950">
                <a:solidFill>
                  <a:srgbClr val="172536"/>
                </a:solidFill>
                <a:latin typeface="Arial"/>
                <a:ea typeface="Arial"/>
                <a:cs typeface="Arial"/>
              </a:rPr>
              <a:t>Links feedback to public activity scale, peak periods, and disruption demand.</a:t>
            </a:r>
          </a:p>
        </p:txBody>
      </p:sp>
      <p:sp>
        <p:nvSpPr>
          <p:cNvPr id="44" name="kpi-rule"/>
          <p:cNvSpPr txBox="1"/>
          <p:nvPr/>
        </p:nvSpPr>
        <p:spPr>
          <a:xfrm>
            <a:off x="658368" y="5102352"/>
            <a:ext cx="10698480" cy="438912"/>
          </a:xfrm>
          <a:prstGeom prst="rect">
            <a:avLst/>
          </a:prstGeom>
          <a:solidFill>
            <a:srgbClr val="E8F5EE"/>
          </a:solidFill>
          <a:ln w="12700">
            <a:solidFill>
              <a:srgbClr val="D9E2EC"/>
            </a:solidFill>
          </a:ln>
        </p:spPr>
        <p:txBody>
          <a:bodyPr wrap="square" anchor="t" lIns="76200" tIns="76200" rIns="76200" bIns="76200"/>
          <a:lstStyle/>
          <a:p>
            <a:pPr algn="l" marL="0" indent="0">
              <a:spcBef>
                <a:spcPts val="0"/>
              </a:spcBef>
            </a:pPr>
            <a:r>
              <a:rPr lang="en-US" sz="1300">
                <a:solidFill>
                  <a:srgbClr val="172536"/>
                </a:solidFill>
                <a:latin typeface="Arial"/>
                <a:ea typeface="Arial"/>
                <a:cs typeface="Arial"/>
              </a:rPr>
              <a:t>KPI rule: every metric needs a data owner, source label, target, interpretation, and executive action path before it appears in leadership reporting.</a:t>
            </a:r>
          </a:p>
        </p:txBody>
      </p:sp>
      <p:sp>
        <p:nvSpPr>
          <p:cNvPr id="800" name="footer"/>
          <p:cNvSpPr txBox="1"/>
          <p:nvPr/>
        </p:nvSpPr>
        <p:spPr>
          <a:xfrm>
            <a:off x="585216" y="6473952"/>
            <a:ext cx="813816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850">
                <a:solidFill>
                  <a:srgbClr val="5C6F82"/>
                </a:solidFill>
                <a:latin typeface="Arial"/>
                <a:ea typeface="Arial"/>
                <a:cs typeface="Arial"/>
              </a:rPr>
              <a:t>Public-source prototype. CRM, survey, accessibility, passenger, and PNE relationship records require approved internal systems and governance controls.</a:t>
            </a:r>
          </a:p>
        </p:txBody>
      </p:sp>
      <p:sp>
        <p:nvSpPr>
          <p:cNvPr id="801" name="slide-number"/>
          <p:cNvSpPr txBox="1"/>
          <p:nvPr/>
        </p:nvSpPr>
        <p:spPr>
          <a:xfrm>
            <a:off x="10835640" y="647395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 marL="0" indent="0">
              <a:spcBef>
                <a:spcPts val="0"/>
              </a:spcBef>
            </a:pPr>
            <a:r>
              <a:rPr lang="en-US" sz="900" b="1">
                <a:solidFill>
                  <a:srgbClr val="5C6F82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service-bar"/>
          <p:cNvSpPr/>
          <p:nvPr/>
        </p:nvSpPr>
        <p:spPr>
          <a:xfrm>
            <a:off x="0" y="0"/>
            <a:ext cx="12191695" cy="420624"/>
          </a:xfrm>
          <a:prstGeom prst="rect">
            <a:avLst/>
          </a:prstGeom>
          <a:solidFill>
            <a:srgbClr val="0F3B63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gold-bar"/>
          <p:cNvSpPr/>
          <p:nvPr/>
        </p:nvSpPr>
        <p:spPr>
          <a:xfrm>
            <a:off x="0" y="0"/>
            <a:ext cx="109728" cy="420624"/>
          </a:xfrm>
          <a:prstGeom prst="rect">
            <a:avLst/>
          </a:prstGeom>
          <a:solidFill>
            <a:srgbClr val="F3C613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agency"/>
          <p:cNvSpPr txBox="1"/>
          <p:nvPr/>
        </p:nvSpPr>
        <p:spPr>
          <a:xfrm>
            <a:off x="256032" y="73152"/>
            <a:ext cx="530352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City of Philadelphia / Department of Aviation</a:t>
            </a:r>
          </a:p>
        </p:txBody>
      </p:sp>
      <p:sp>
        <p:nvSpPr>
          <p:cNvPr id="5" name="eyebrow"/>
          <p:cNvSpPr txBox="1"/>
          <p:nvPr/>
        </p:nvSpPr>
        <p:spPr>
          <a:xfrm>
            <a:off x="8229600" y="73152"/>
            <a:ext cx="356616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 marL="0" indent="0">
              <a:spcBef>
                <a:spcPts val="0"/>
              </a:spcBef>
            </a:pPr>
            <a:r>
              <a:rPr lang="en-US" sz="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CUSTOMER INTELLIGENCE CYCLE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566928" y="713232"/>
            <a:ext cx="10881360" cy="43891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2650" b="1">
                <a:solidFill>
                  <a:srgbClr val="0F3B63"/>
                </a:solidFill>
                <a:latin typeface="Arial"/>
                <a:ea typeface="Arial"/>
                <a:cs typeface="Arial"/>
              </a:rPr>
              <a:t>From CRM Memory To Service Improvement</a:t>
            </a:r>
          </a:p>
        </p:txBody>
      </p:sp>
      <p:sp>
        <p:nvSpPr>
          <p:cNvPr id="7" name="subtitle"/>
          <p:cNvSpPr txBox="1"/>
          <p:nvPr/>
        </p:nvSpPr>
        <p:spPr>
          <a:xfrm>
            <a:off x="585216" y="1152144"/>
            <a:ext cx="105613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1250">
                <a:solidFill>
                  <a:srgbClr val="5C6F82"/>
                </a:solidFill>
                <a:latin typeface="Arial"/>
                <a:ea typeface="Arial"/>
                <a:cs typeface="Arial"/>
              </a:rPr>
              <a:t>CRM captures the relationship history; engagement platforms create feedback loops; enterprise data systems make the signals reliable enough for decisions.</a:t>
            </a:r>
          </a:p>
        </p:txBody>
      </p:sp>
      <p:sp>
        <p:nvSpPr>
          <p:cNvPr id="20" name="1. Collect accent"/>
          <p:cNvSpPr/>
          <p:nvPr/>
        </p:nvSpPr>
        <p:spPr>
          <a:xfrm>
            <a:off x="594360" y="1828800"/>
            <a:ext cx="73152" cy="1115568"/>
          </a:xfrm>
          <a:prstGeom prst="rect">
            <a:avLst/>
          </a:prstGeom>
          <a:solidFill>
            <a:srgbClr val="0F4D90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1. Collect"/>
          <p:cNvSpPr txBox="1"/>
          <p:nvPr/>
        </p:nvSpPr>
        <p:spPr>
          <a:xfrm>
            <a:off x="667512" y="1828800"/>
            <a:ext cx="3328416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anchor="t" lIns="76200" tIns="76200" rIns="76200" bIns="76200"/>
          <a:lstStyle/>
          <a:p>
            <a:pPr algn="l" marL="0" indent="0">
              <a:spcBef>
                <a:spcPts val="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1. Collect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Surveys, complaints, compliments, service requests, digital signals, public activity context.</a:t>
            </a:r>
          </a:p>
        </p:txBody>
      </p:sp>
      <p:sp>
        <p:nvSpPr>
          <p:cNvPr id="22" name="2. Integrate accent"/>
          <p:cNvSpPr/>
          <p:nvPr/>
        </p:nvSpPr>
        <p:spPr>
          <a:xfrm>
            <a:off x="4389120" y="1828800"/>
            <a:ext cx="73152" cy="1115568"/>
          </a:xfrm>
          <a:prstGeom prst="rect">
            <a:avLst/>
          </a:prstGeom>
          <a:solidFill>
            <a:srgbClr val="0F4D90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2. Integrate"/>
          <p:cNvSpPr txBox="1"/>
          <p:nvPr/>
        </p:nvSpPr>
        <p:spPr>
          <a:xfrm>
            <a:off x="4462272" y="1828800"/>
            <a:ext cx="3328416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anchor="t" lIns="76200" tIns="76200" rIns="76200" bIns="76200"/>
          <a:lstStyle/>
          <a:p>
            <a:pPr algn="l" marL="0" indent="0">
              <a:spcBef>
                <a:spcPts val="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2. Integrate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CRM, survey, digital, accessibility, PNE relationship, and operations context in one reporting layer.</a:t>
            </a:r>
          </a:p>
        </p:txBody>
      </p:sp>
      <p:sp>
        <p:nvSpPr>
          <p:cNvPr id="24" name="3. Clean accent"/>
          <p:cNvSpPr/>
          <p:nvPr/>
        </p:nvSpPr>
        <p:spPr>
          <a:xfrm>
            <a:off x="8183880" y="1828800"/>
            <a:ext cx="73152" cy="1115568"/>
          </a:xfrm>
          <a:prstGeom prst="rect">
            <a:avLst/>
          </a:prstGeom>
          <a:solidFill>
            <a:srgbClr val="0F4D90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3. Clean"/>
          <p:cNvSpPr txBox="1"/>
          <p:nvPr/>
        </p:nvSpPr>
        <p:spPr>
          <a:xfrm>
            <a:off x="8257032" y="1828800"/>
            <a:ext cx="3328416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anchor="t" lIns="76200" tIns="76200" rIns="76200" bIns="76200"/>
          <a:lstStyle/>
          <a:p>
            <a:pPr algn="l" marL="0" indent="0">
              <a:spcBef>
                <a:spcPts val="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3. Clean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Duplicate cases, missing owners, inconsistent journey stages, and unreliable timestamps are corrected.</a:t>
            </a:r>
          </a:p>
        </p:txBody>
      </p:sp>
      <p:sp>
        <p:nvSpPr>
          <p:cNvPr id="26" name="4. Analyze accent"/>
          <p:cNvSpPr/>
          <p:nvPr/>
        </p:nvSpPr>
        <p:spPr>
          <a:xfrm>
            <a:off x="594360" y="3310128"/>
            <a:ext cx="73152" cy="1115568"/>
          </a:xfrm>
          <a:prstGeom prst="rect">
            <a:avLst/>
          </a:prstGeom>
          <a:solidFill>
            <a:srgbClr val="25805A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4. Analyze"/>
          <p:cNvSpPr txBox="1"/>
          <p:nvPr/>
        </p:nvSpPr>
        <p:spPr>
          <a:xfrm>
            <a:off x="667512" y="3310128"/>
            <a:ext cx="3328416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anchor="t" lIns="76200" tIns="76200" rIns="76200" bIns="76200"/>
          <a:lstStyle/>
          <a:p>
            <a:pPr algn="l" marL="0" indent="0">
              <a:spcBef>
                <a:spcPts val="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4. Analyze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Segments, service themes, root causes, forecast signals, and quality scores explain what changed.</a:t>
            </a:r>
          </a:p>
        </p:txBody>
      </p:sp>
      <p:sp>
        <p:nvSpPr>
          <p:cNvPr id="28" name="5. Report accent"/>
          <p:cNvSpPr/>
          <p:nvPr/>
        </p:nvSpPr>
        <p:spPr>
          <a:xfrm>
            <a:off x="4389120" y="3310128"/>
            <a:ext cx="73152" cy="1115568"/>
          </a:xfrm>
          <a:prstGeom prst="rect">
            <a:avLst/>
          </a:prstGeom>
          <a:solidFill>
            <a:srgbClr val="25805A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5. Report"/>
          <p:cNvSpPr txBox="1"/>
          <p:nvPr/>
        </p:nvSpPr>
        <p:spPr>
          <a:xfrm>
            <a:off x="4462272" y="3310128"/>
            <a:ext cx="3328416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anchor="t" lIns="76200" tIns="76200" rIns="76200" bIns="76200"/>
          <a:lstStyle/>
          <a:p>
            <a:pPr algn="l" marL="0" indent="0">
              <a:spcBef>
                <a:spcPts val="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5. Report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Cockpit, evidence chain, downloadable reports, and citations answer executive questions.</a:t>
            </a:r>
          </a:p>
        </p:txBody>
      </p:sp>
      <p:sp>
        <p:nvSpPr>
          <p:cNvPr id="30" name="6. Act accent"/>
          <p:cNvSpPr/>
          <p:nvPr/>
        </p:nvSpPr>
        <p:spPr>
          <a:xfrm>
            <a:off x="8183880" y="3310128"/>
            <a:ext cx="73152" cy="1115568"/>
          </a:xfrm>
          <a:prstGeom prst="rect">
            <a:avLst/>
          </a:prstGeom>
          <a:solidFill>
            <a:srgbClr val="25805A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6. Act"/>
          <p:cNvSpPr txBox="1"/>
          <p:nvPr/>
        </p:nvSpPr>
        <p:spPr>
          <a:xfrm>
            <a:off x="8257032" y="3310128"/>
            <a:ext cx="3328416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anchor="t" lIns="76200" tIns="76200" rIns="76200" bIns="76200"/>
          <a:lstStyle/>
          <a:p>
            <a:pPr algn="l" marL="0" indent="0">
              <a:spcBef>
                <a:spcPts val="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6. Act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Owners, due dates, remediation, expected outcomes, and follow-up cadence close the loop.</a:t>
            </a:r>
          </a:p>
        </p:txBody>
      </p:sp>
      <p:sp>
        <p:nvSpPr>
          <p:cNvPr id="32" name="cycle-note"/>
          <p:cNvSpPr txBox="1"/>
          <p:nvPr/>
        </p:nvSpPr>
        <p:spPr>
          <a:xfrm>
            <a:off x="658368" y="4992624"/>
            <a:ext cx="10698480" cy="585216"/>
          </a:xfrm>
          <a:prstGeom prst="rect">
            <a:avLst/>
          </a:prstGeom>
          <a:solidFill>
            <a:srgbClr val="EEF5FC"/>
          </a:solidFill>
          <a:ln w="12700">
            <a:solidFill>
              <a:srgbClr val="D9E2EC"/>
            </a:solidFill>
          </a:ln>
        </p:spPr>
        <p:txBody>
          <a:bodyPr wrap="square" anchor="t" lIns="76200" tIns="76200" rIns="76200" bIns="76200"/>
          <a:lstStyle/>
          <a:p>
            <a:pPr algn="l" marL="0" indent="0">
              <a:spcBef>
                <a:spcPts val="0"/>
              </a:spcBef>
            </a:pPr>
            <a:r>
              <a:rPr lang="en-US" sz="1400">
                <a:solidFill>
                  <a:srgbClr val="172536"/>
                </a:solidFill>
                <a:latin typeface="Arial"/>
                <a:ea typeface="Arial"/>
                <a:cs typeface="Arial"/>
              </a:rPr>
              <a:t>Closed-loop standard: analysis without action has no value. The deck and dashboard show the path from customer signal to assigned improvement, not only the chart.</a:t>
            </a:r>
          </a:p>
        </p:txBody>
      </p:sp>
      <p:sp>
        <p:nvSpPr>
          <p:cNvPr id="800" name="footer"/>
          <p:cNvSpPr txBox="1"/>
          <p:nvPr/>
        </p:nvSpPr>
        <p:spPr>
          <a:xfrm>
            <a:off x="585216" y="6473952"/>
            <a:ext cx="813816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850">
                <a:solidFill>
                  <a:srgbClr val="5C6F82"/>
                </a:solidFill>
                <a:latin typeface="Arial"/>
                <a:ea typeface="Arial"/>
                <a:cs typeface="Arial"/>
              </a:rPr>
              <a:t>Public-source prototype. CRM, survey, accessibility, passenger, and PNE relationship records require approved internal systems and governance controls.</a:t>
            </a:r>
          </a:p>
        </p:txBody>
      </p:sp>
      <p:sp>
        <p:nvSpPr>
          <p:cNvPr id="801" name="slide-number"/>
          <p:cNvSpPr txBox="1"/>
          <p:nvPr/>
        </p:nvSpPr>
        <p:spPr>
          <a:xfrm>
            <a:off x="10835640" y="647395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 marL="0" indent="0">
              <a:spcBef>
                <a:spcPts val="0"/>
              </a:spcBef>
            </a:pPr>
            <a:r>
              <a:rPr lang="en-US" sz="900" b="1">
                <a:solidFill>
                  <a:srgbClr val="5C6F82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service-bar"/>
          <p:cNvSpPr/>
          <p:nvPr/>
        </p:nvSpPr>
        <p:spPr>
          <a:xfrm>
            <a:off x="0" y="0"/>
            <a:ext cx="12191695" cy="420624"/>
          </a:xfrm>
          <a:prstGeom prst="rect">
            <a:avLst/>
          </a:prstGeom>
          <a:solidFill>
            <a:srgbClr val="0F3B63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gold-bar"/>
          <p:cNvSpPr/>
          <p:nvPr/>
        </p:nvSpPr>
        <p:spPr>
          <a:xfrm>
            <a:off x="0" y="0"/>
            <a:ext cx="109728" cy="420624"/>
          </a:xfrm>
          <a:prstGeom prst="rect">
            <a:avLst/>
          </a:prstGeom>
          <a:solidFill>
            <a:srgbClr val="F3C613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agency"/>
          <p:cNvSpPr txBox="1"/>
          <p:nvPr/>
        </p:nvSpPr>
        <p:spPr>
          <a:xfrm>
            <a:off x="256032" y="73152"/>
            <a:ext cx="530352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City of Philadelphia / Department of Aviation</a:t>
            </a:r>
          </a:p>
        </p:txBody>
      </p:sp>
      <p:sp>
        <p:nvSpPr>
          <p:cNvPr id="5" name="eyebrow"/>
          <p:cNvSpPr txBox="1"/>
          <p:nvPr/>
        </p:nvSpPr>
        <p:spPr>
          <a:xfrm>
            <a:off x="8229600" y="73152"/>
            <a:ext cx="356616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 marL="0" indent="0">
              <a:spcBef>
                <a:spcPts val="0"/>
              </a:spcBef>
            </a:pPr>
            <a:r>
              <a:rPr lang="en-US" sz="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SEGMENTATION LENS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566928" y="713232"/>
            <a:ext cx="10881360" cy="43891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2650" b="1">
                <a:solidFill>
                  <a:srgbClr val="0F3B63"/>
                </a:solidFill>
                <a:latin typeface="Arial"/>
                <a:ea typeface="Arial"/>
                <a:cs typeface="Arial"/>
              </a:rPr>
              <a:t>Segmentation Makes Airport Experience Data Actionable</a:t>
            </a:r>
          </a:p>
        </p:txBody>
      </p:sp>
      <p:sp>
        <p:nvSpPr>
          <p:cNvPr id="7" name="subtitle"/>
          <p:cNvSpPr txBox="1"/>
          <p:nvPr/>
        </p:nvSpPr>
        <p:spPr>
          <a:xfrm>
            <a:off x="585216" y="1152144"/>
            <a:ext cx="105613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1250">
                <a:solidFill>
                  <a:srgbClr val="5C6F82"/>
                </a:solidFill>
                <a:latin typeface="Arial"/>
                <a:ea typeface="Arial"/>
                <a:cs typeface="Arial"/>
              </a:rPr>
              <a:t>Passengers and airport customers are not one group. The dashboard separates behavior, journey context, sensitivity, and PNE relationship needs.</a:t>
            </a:r>
          </a:p>
        </p:txBody>
      </p:sp>
      <p:sp>
        <p:nvSpPr>
          <p:cNvPr id="20" name="table-head"/>
          <p:cNvSpPr txBox="1"/>
          <p:nvPr/>
        </p:nvSpPr>
        <p:spPr>
          <a:xfrm>
            <a:off x="658368" y="1737360"/>
            <a:ext cx="10808208" cy="329184"/>
          </a:xfrm>
          <a:prstGeom prst="rect">
            <a:avLst/>
          </a:prstGeom>
          <a:solidFill>
            <a:srgbClr val="0F4D90"/>
          </a:solidFill>
          <a:ln>
            <a:noFill/>
          </a:ln>
        </p:spPr>
        <p:txBody>
          <a:bodyPr wrap="square" anchor="t" lIns="76200" tIns="76200" rIns="76200" bIns="76200"/>
          <a:lstStyle/>
          <a:p>
            <a:pPr algn="l" marL="0" indent="0">
              <a:spcBef>
                <a:spcPts val="0"/>
              </a:spcBef>
            </a:pPr>
            <a:r>
              <a:rPr lang="en-US" sz="1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Segment | Behavioral signal | Executive use</a:t>
            </a:r>
          </a:p>
        </p:txBody>
      </p:sp>
      <p:sp>
        <p:nvSpPr>
          <p:cNvPr id="21" name="seg row 0"/>
          <p:cNvSpPr/>
          <p:nvPr/>
        </p:nvSpPr>
        <p:spPr>
          <a:xfrm>
            <a:off x="658368" y="2157984"/>
            <a:ext cx="10808208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/>
          <a:lstStyle/>
          <a:p/>
        </p:txBody>
      </p:sp>
      <p:sp>
        <p:nvSpPr>
          <p:cNvPr id="22" name="seg 0"/>
          <p:cNvSpPr txBox="1"/>
          <p:nvPr/>
        </p:nvSpPr>
        <p:spPr>
          <a:xfrm>
            <a:off x="749808" y="2221991"/>
            <a:ext cx="19659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950" b="1">
                <a:solidFill>
                  <a:srgbClr val="0F3B63"/>
                </a:solidFill>
                <a:latin typeface="Arial"/>
                <a:ea typeface="Arial"/>
                <a:cs typeface="Arial"/>
              </a:rPr>
              <a:t>Business / frequent</a:t>
            </a:r>
          </a:p>
        </p:txBody>
      </p:sp>
      <p:sp>
        <p:nvSpPr>
          <p:cNvPr id="23" name="sig 0"/>
          <p:cNvSpPr txBox="1"/>
          <p:nvPr/>
        </p:nvSpPr>
        <p:spPr>
          <a:xfrm>
            <a:off x="2788920" y="2221991"/>
            <a:ext cx="388620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900">
                <a:solidFill>
                  <a:srgbClr val="172536"/>
                </a:solidFill>
                <a:latin typeface="Arial"/>
                <a:ea typeface="Arial"/>
                <a:cs typeface="Arial"/>
              </a:rPr>
              <a:t>Time sensitivity, repeat use, disruption impact</a:t>
            </a:r>
          </a:p>
        </p:txBody>
      </p:sp>
      <p:sp>
        <p:nvSpPr>
          <p:cNvPr id="24" name="use 0"/>
          <p:cNvSpPr txBox="1"/>
          <p:nvPr/>
        </p:nvSpPr>
        <p:spPr>
          <a:xfrm>
            <a:off x="6812280" y="2221991"/>
            <a:ext cx="420624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900">
                <a:solidFill>
                  <a:srgbClr val="172536"/>
                </a:solidFill>
                <a:latin typeface="Arial"/>
                <a:ea typeface="Arial"/>
                <a:cs typeface="Arial"/>
              </a:rPr>
              <a:t>Protect reliability and loyalty.</a:t>
            </a:r>
          </a:p>
        </p:txBody>
      </p:sp>
      <p:sp>
        <p:nvSpPr>
          <p:cNvPr id="25" name="seg row 1"/>
          <p:cNvSpPr/>
          <p:nvPr/>
        </p:nvSpPr>
        <p:spPr>
          <a:xfrm>
            <a:off x="658368" y="2660904"/>
            <a:ext cx="10808208" cy="438912"/>
          </a:xfrm>
          <a:prstGeom prst="rect">
            <a:avLst/>
          </a:prstGeom>
          <a:solidFill>
            <a:srgbClr val="FBFDFF"/>
          </a:solidFill>
          <a:ln w="12700">
            <a:solidFill>
              <a:srgbClr val="D9E2EC"/>
            </a:solidFill>
          </a:ln>
        </p:spPr>
        <p:txBody>
          <a:bodyPr/>
          <a:lstStyle/>
          <a:p/>
        </p:txBody>
      </p:sp>
      <p:sp>
        <p:nvSpPr>
          <p:cNvPr id="26" name="seg 1"/>
          <p:cNvSpPr txBox="1"/>
          <p:nvPr/>
        </p:nvSpPr>
        <p:spPr>
          <a:xfrm>
            <a:off x="749808" y="2724912"/>
            <a:ext cx="19659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950" b="1">
                <a:solidFill>
                  <a:srgbClr val="0F3B63"/>
                </a:solidFill>
                <a:latin typeface="Arial"/>
                <a:ea typeface="Arial"/>
                <a:cs typeface="Arial"/>
              </a:rPr>
              <a:t>Leisure / families</a:t>
            </a:r>
          </a:p>
        </p:txBody>
      </p:sp>
      <p:sp>
        <p:nvSpPr>
          <p:cNvPr id="27" name="sig 1"/>
          <p:cNvSpPr txBox="1"/>
          <p:nvPr/>
        </p:nvSpPr>
        <p:spPr>
          <a:xfrm>
            <a:off x="2788920" y="2724912"/>
            <a:ext cx="388620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900">
                <a:solidFill>
                  <a:srgbClr val="172536"/>
                </a:solidFill>
                <a:latin typeface="Arial"/>
                <a:ea typeface="Arial"/>
                <a:cs typeface="Arial"/>
              </a:rPr>
              <a:t>Wayfinding, amenities, plain-language support</a:t>
            </a:r>
          </a:p>
        </p:txBody>
      </p:sp>
      <p:sp>
        <p:nvSpPr>
          <p:cNvPr id="28" name="use 1"/>
          <p:cNvSpPr txBox="1"/>
          <p:nvPr/>
        </p:nvSpPr>
        <p:spPr>
          <a:xfrm>
            <a:off x="6812280" y="2724912"/>
            <a:ext cx="420624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900">
                <a:solidFill>
                  <a:srgbClr val="172536"/>
                </a:solidFill>
                <a:latin typeface="Arial"/>
                <a:ea typeface="Arial"/>
                <a:cs typeface="Arial"/>
              </a:rPr>
              <a:t>Reduce journey effort.</a:t>
            </a:r>
          </a:p>
        </p:txBody>
      </p:sp>
      <p:sp>
        <p:nvSpPr>
          <p:cNvPr id="29" name="seg row 2"/>
          <p:cNvSpPr/>
          <p:nvPr/>
        </p:nvSpPr>
        <p:spPr>
          <a:xfrm>
            <a:off x="658368" y="3163824"/>
            <a:ext cx="10808208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/>
          <a:lstStyle/>
          <a:p/>
        </p:txBody>
      </p:sp>
      <p:sp>
        <p:nvSpPr>
          <p:cNvPr id="30" name="seg 2"/>
          <p:cNvSpPr txBox="1"/>
          <p:nvPr/>
        </p:nvSpPr>
        <p:spPr>
          <a:xfrm>
            <a:off x="749808" y="3227832"/>
            <a:ext cx="19659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950" b="1">
                <a:solidFill>
                  <a:srgbClr val="0F3B63"/>
                </a:solidFill>
                <a:latin typeface="Arial"/>
                <a:ea typeface="Arial"/>
                <a:cs typeface="Arial"/>
              </a:rPr>
              <a:t>International / first-time</a:t>
            </a:r>
          </a:p>
        </p:txBody>
      </p:sp>
      <p:sp>
        <p:nvSpPr>
          <p:cNvPr id="31" name="sig 2"/>
          <p:cNvSpPr txBox="1"/>
          <p:nvPr/>
        </p:nvSpPr>
        <p:spPr>
          <a:xfrm>
            <a:off x="2788920" y="3227832"/>
            <a:ext cx="388620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900">
                <a:solidFill>
                  <a:srgbClr val="172536"/>
                </a:solidFill>
                <a:latin typeface="Arial"/>
                <a:ea typeface="Arial"/>
                <a:cs typeface="Arial"/>
              </a:rPr>
              <a:t>Customs, language, connection questions</a:t>
            </a:r>
          </a:p>
        </p:txBody>
      </p:sp>
      <p:sp>
        <p:nvSpPr>
          <p:cNvPr id="32" name="use 2"/>
          <p:cNvSpPr txBox="1"/>
          <p:nvPr/>
        </p:nvSpPr>
        <p:spPr>
          <a:xfrm>
            <a:off x="6812280" y="3227832"/>
            <a:ext cx="420624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900">
                <a:solidFill>
                  <a:srgbClr val="172536"/>
                </a:solidFill>
                <a:latin typeface="Arial"/>
                <a:ea typeface="Arial"/>
                <a:cs typeface="Arial"/>
              </a:rPr>
              <a:t>Improve pre-arrival and multilingual guidance.</a:t>
            </a:r>
          </a:p>
        </p:txBody>
      </p:sp>
      <p:sp>
        <p:nvSpPr>
          <p:cNvPr id="33" name="seg row 3"/>
          <p:cNvSpPr/>
          <p:nvPr/>
        </p:nvSpPr>
        <p:spPr>
          <a:xfrm>
            <a:off x="658368" y="3666744"/>
            <a:ext cx="10808208" cy="438912"/>
          </a:xfrm>
          <a:prstGeom prst="rect">
            <a:avLst/>
          </a:prstGeom>
          <a:solidFill>
            <a:srgbClr val="FBFDFF"/>
          </a:solidFill>
          <a:ln w="12700">
            <a:solidFill>
              <a:srgbClr val="D9E2EC"/>
            </a:solidFill>
          </a:ln>
        </p:spPr>
        <p:txBody>
          <a:bodyPr/>
          <a:lstStyle/>
          <a:p/>
        </p:txBody>
      </p:sp>
      <p:sp>
        <p:nvSpPr>
          <p:cNvPr id="34" name="seg 3"/>
          <p:cNvSpPr txBox="1"/>
          <p:nvPr/>
        </p:nvSpPr>
        <p:spPr>
          <a:xfrm>
            <a:off x="749808" y="3730752"/>
            <a:ext cx="19659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950" b="1">
                <a:solidFill>
                  <a:srgbClr val="0F3B63"/>
                </a:solidFill>
                <a:latin typeface="Arial"/>
                <a:ea typeface="Arial"/>
                <a:cs typeface="Arial"/>
              </a:rPr>
              <a:t>Accessibility users</a:t>
            </a:r>
          </a:p>
        </p:txBody>
      </p:sp>
      <p:sp>
        <p:nvSpPr>
          <p:cNvPr id="35" name="sig 3"/>
          <p:cNvSpPr txBox="1"/>
          <p:nvPr/>
        </p:nvSpPr>
        <p:spPr>
          <a:xfrm>
            <a:off x="2788920" y="3730752"/>
            <a:ext cx="388620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900">
                <a:solidFill>
                  <a:srgbClr val="172536"/>
                </a:solidFill>
                <a:latin typeface="Arial"/>
                <a:ea typeface="Arial"/>
                <a:cs typeface="Arial"/>
              </a:rPr>
              <a:t>Support requests, handoffs, alternative formats</a:t>
            </a:r>
          </a:p>
        </p:txBody>
      </p:sp>
      <p:sp>
        <p:nvSpPr>
          <p:cNvPr id="36" name="use 3"/>
          <p:cNvSpPr txBox="1"/>
          <p:nvPr/>
        </p:nvSpPr>
        <p:spPr>
          <a:xfrm>
            <a:off x="6812280" y="3730752"/>
            <a:ext cx="420624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900">
                <a:solidFill>
                  <a:srgbClr val="172536"/>
                </a:solidFill>
                <a:latin typeface="Arial"/>
                <a:ea typeface="Arial"/>
                <a:cs typeface="Arial"/>
              </a:rPr>
              <a:t>Analyze trends with restricted privacy controls.</a:t>
            </a:r>
          </a:p>
        </p:txBody>
      </p:sp>
      <p:sp>
        <p:nvSpPr>
          <p:cNvPr id="37" name="seg row 4"/>
          <p:cNvSpPr/>
          <p:nvPr/>
        </p:nvSpPr>
        <p:spPr>
          <a:xfrm>
            <a:off x="658368" y="4169664"/>
            <a:ext cx="10808208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/>
          <a:lstStyle/>
          <a:p/>
        </p:txBody>
      </p:sp>
      <p:sp>
        <p:nvSpPr>
          <p:cNvPr id="38" name="seg 4"/>
          <p:cNvSpPr txBox="1"/>
          <p:nvPr/>
        </p:nvSpPr>
        <p:spPr>
          <a:xfrm>
            <a:off x="749808" y="4233672"/>
            <a:ext cx="19659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950" b="1">
                <a:solidFill>
                  <a:srgbClr val="0F3B63"/>
                </a:solidFill>
                <a:latin typeface="Arial"/>
                <a:ea typeface="Arial"/>
                <a:cs typeface="Arial"/>
              </a:rPr>
              <a:t>Disrupted passengers</a:t>
            </a:r>
          </a:p>
        </p:txBody>
      </p:sp>
      <p:sp>
        <p:nvSpPr>
          <p:cNvPr id="39" name="sig 4"/>
          <p:cNvSpPr txBox="1"/>
          <p:nvPr/>
        </p:nvSpPr>
        <p:spPr>
          <a:xfrm>
            <a:off x="2788920" y="4233672"/>
            <a:ext cx="388620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900">
                <a:solidFill>
                  <a:srgbClr val="172536"/>
                </a:solidFill>
                <a:latin typeface="Arial"/>
                <a:ea typeface="Arial"/>
                <a:cs typeface="Arial"/>
              </a:rPr>
              <a:t>Delay context, crowding, recovery needs</a:t>
            </a:r>
          </a:p>
        </p:txBody>
      </p:sp>
      <p:sp>
        <p:nvSpPr>
          <p:cNvPr id="40" name="use 4"/>
          <p:cNvSpPr txBox="1"/>
          <p:nvPr/>
        </p:nvSpPr>
        <p:spPr>
          <a:xfrm>
            <a:off x="6812280" y="4233672"/>
            <a:ext cx="420624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900">
                <a:solidFill>
                  <a:srgbClr val="172536"/>
                </a:solidFill>
                <a:latin typeface="Arial"/>
                <a:ea typeface="Arial"/>
                <a:cs typeface="Arial"/>
              </a:rPr>
              <a:t>Trigger proactive communication.</a:t>
            </a:r>
          </a:p>
        </p:txBody>
      </p:sp>
      <p:sp>
        <p:nvSpPr>
          <p:cNvPr id="41" name="seg row 5"/>
          <p:cNvSpPr/>
          <p:nvPr/>
        </p:nvSpPr>
        <p:spPr>
          <a:xfrm>
            <a:off x="658368" y="4672583"/>
            <a:ext cx="10808208" cy="438912"/>
          </a:xfrm>
          <a:prstGeom prst="rect">
            <a:avLst/>
          </a:prstGeom>
          <a:solidFill>
            <a:srgbClr val="FBFDFF"/>
          </a:solidFill>
          <a:ln w="12700">
            <a:solidFill>
              <a:srgbClr val="D9E2EC"/>
            </a:solidFill>
          </a:ln>
        </p:spPr>
        <p:txBody>
          <a:bodyPr/>
          <a:lstStyle/>
          <a:p/>
        </p:txBody>
      </p:sp>
      <p:sp>
        <p:nvSpPr>
          <p:cNvPr id="42" name="seg 5"/>
          <p:cNvSpPr txBox="1"/>
          <p:nvPr/>
        </p:nvSpPr>
        <p:spPr>
          <a:xfrm>
            <a:off x="749808" y="4736592"/>
            <a:ext cx="196596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950" b="1">
                <a:solidFill>
                  <a:srgbClr val="0F3B63"/>
                </a:solidFill>
                <a:latin typeface="Arial"/>
                <a:ea typeface="Arial"/>
                <a:cs typeface="Arial"/>
              </a:rPr>
              <a:t>PNE relationships</a:t>
            </a:r>
          </a:p>
        </p:txBody>
      </p:sp>
      <p:sp>
        <p:nvSpPr>
          <p:cNvPr id="43" name="sig 5"/>
          <p:cNvSpPr txBox="1"/>
          <p:nvPr/>
        </p:nvSpPr>
        <p:spPr>
          <a:xfrm>
            <a:off x="2788920" y="4736592"/>
            <a:ext cx="388620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900">
                <a:solidFill>
                  <a:srgbClr val="172536"/>
                </a:solidFill>
                <a:latin typeface="Arial"/>
                <a:ea typeface="Arial"/>
                <a:cs typeface="Arial"/>
              </a:rPr>
              <a:t>Pilots, tenants, corporate aviation, facility requests</a:t>
            </a:r>
          </a:p>
        </p:txBody>
      </p:sp>
      <p:sp>
        <p:nvSpPr>
          <p:cNvPr id="44" name="use 5"/>
          <p:cNvSpPr txBox="1"/>
          <p:nvPr/>
        </p:nvSpPr>
        <p:spPr>
          <a:xfrm>
            <a:off x="6812280" y="4736592"/>
            <a:ext cx="420624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900">
                <a:solidFill>
                  <a:srgbClr val="172536"/>
                </a:solidFill>
                <a:latin typeface="Arial"/>
                <a:ea typeface="Arial"/>
                <a:cs typeface="Arial"/>
              </a:rPr>
              <a:t>Manage relationship health and follow-up.</a:t>
            </a:r>
          </a:p>
        </p:txBody>
      </p:sp>
      <p:sp>
        <p:nvSpPr>
          <p:cNvPr id="45" name="seg-note"/>
          <p:cNvSpPr txBox="1"/>
          <p:nvPr/>
        </p:nvSpPr>
        <p:spPr>
          <a:xfrm>
            <a:off x="658368" y="5413248"/>
            <a:ext cx="10808208" cy="384048"/>
          </a:xfrm>
          <a:prstGeom prst="rect">
            <a:avLst/>
          </a:prstGeom>
          <a:solidFill>
            <a:srgbClr val="FFF5DF"/>
          </a:solidFill>
          <a:ln w="12700">
            <a:solidFill>
              <a:srgbClr val="D9E2EC"/>
            </a:solidFill>
          </a:ln>
        </p:spPr>
        <p:txBody>
          <a:bodyPr wrap="square" anchor="t" lIns="76200" tIns="76200" rIns="76200" bIns="76200"/>
          <a:lstStyle/>
          <a:p>
            <a:pPr algn="l" marL="0" indent="0">
              <a:spcBef>
                <a:spcPts val="0"/>
              </a:spcBef>
            </a:pPr>
            <a:r>
              <a:rPr lang="en-US" sz="1250">
                <a:solidFill>
                  <a:srgbClr val="172536"/>
                </a:solidFill>
                <a:latin typeface="Arial"/>
                <a:ea typeface="Arial"/>
                <a:cs typeface="Arial"/>
              </a:rPr>
              <a:t>Segmentation prevents averages from hiding who is affected, what context matters, and which stakeholder owns the fix.</a:t>
            </a:r>
          </a:p>
        </p:txBody>
      </p:sp>
      <p:sp>
        <p:nvSpPr>
          <p:cNvPr id="800" name="footer"/>
          <p:cNvSpPr txBox="1"/>
          <p:nvPr/>
        </p:nvSpPr>
        <p:spPr>
          <a:xfrm>
            <a:off x="585216" y="6473952"/>
            <a:ext cx="813816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850">
                <a:solidFill>
                  <a:srgbClr val="5C6F82"/>
                </a:solidFill>
                <a:latin typeface="Arial"/>
                <a:ea typeface="Arial"/>
                <a:cs typeface="Arial"/>
              </a:rPr>
              <a:t>Public-source prototype. CRM, survey, accessibility, passenger, and PNE relationship records require approved internal systems and governance controls.</a:t>
            </a:r>
          </a:p>
        </p:txBody>
      </p:sp>
      <p:sp>
        <p:nvSpPr>
          <p:cNvPr id="801" name="slide-number"/>
          <p:cNvSpPr txBox="1"/>
          <p:nvPr/>
        </p:nvSpPr>
        <p:spPr>
          <a:xfrm>
            <a:off x="10835640" y="647395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 marL="0" indent="0">
              <a:spcBef>
                <a:spcPts val="0"/>
              </a:spcBef>
            </a:pPr>
            <a:r>
              <a:rPr lang="en-US" sz="900" b="1">
                <a:solidFill>
                  <a:srgbClr val="5C6F82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service-bar"/>
          <p:cNvSpPr/>
          <p:nvPr/>
        </p:nvSpPr>
        <p:spPr>
          <a:xfrm>
            <a:off x="0" y="0"/>
            <a:ext cx="12191695" cy="420624"/>
          </a:xfrm>
          <a:prstGeom prst="rect">
            <a:avLst/>
          </a:prstGeom>
          <a:solidFill>
            <a:srgbClr val="0F3B63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gold-bar"/>
          <p:cNvSpPr/>
          <p:nvPr/>
        </p:nvSpPr>
        <p:spPr>
          <a:xfrm>
            <a:off x="0" y="0"/>
            <a:ext cx="109728" cy="420624"/>
          </a:xfrm>
          <a:prstGeom prst="rect">
            <a:avLst/>
          </a:prstGeom>
          <a:solidFill>
            <a:srgbClr val="F3C613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agency"/>
          <p:cNvSpPr txBox="1"/>
          <p:nvPr/>
        </p:nvSpPr>
        <p:spPr>
          <a:xfrm>
            <a:off x="256032" y="73152"/>
            <a:ext cx="530352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City of Philadelphia / Department of Aviation</a:t>
            </a:r>
          </a:p>
        </p:txBody>
      </p:sp>
      <p:sp>
        <p:nvSpPr>
          <p:cNvPr id="5" name="eyebrow"/>
          <p:cNvSpPr txBox="1"/>
          <p:nvPr/>
        </p:nvSpPr>
        <p:spPr>
          <a:xfrm>
            <a:off x="8229600" y="73152"/>
            <a:ext cx="356616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 marL="0" indent="0">
              <a:spcBef>
                <a:spcPts val="0"/>
              </a:spcBef>
            </a:pPr>
            <a:r>
              <a:rPr lang="en-US" sz="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FORECAST SIGNALS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566928" y="713232"/>
            <a:ext cx="10881360" cy="43891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2650" b="1">
                <a:solidFill>
                  <a:srgbClr val="0F3B63"/>
                </a:solidFill>
                <a:latin typeface="Arial"/>
                <a:ea typeface="Arial"/>
                <a:cs typeface="Arial"/>
              </a:rPr>
              <a:t>Predict Where Experience Risk Is Likely To Surface</a:t>
            </a:r>
          </a:p>
        </p:txBody>
      </p:sp>
      <p:sp>
        <p:nvSpPr>
          <p:cNvPr id="7" name="subtitle"/>
          <p:cNvSpPr txBox="1"/>
          <p:nvPr/>
        </p:nvSpPr>
        <p:spPr>
          <a:xfrm>
            <a:off x="585216" y="1152144"/>
            <a:ext cx="105613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1250">
                <a:solidFill>
                  <a:srgbClr val="5C6F82"/>
                </a:solidFill>
                <a:latin typeface="Arial"/>
                <a:ea typeface="Arial"/>
                <a:cs typeface="Arial"/>
              </a:rPr>
              <a:t>The first forecasting layer is intentionally explainable: leading indicators, confidence, predicted risk, and the executive move are shown together.</a:t>
            </a:r>
          </a:p>
        </p:txBody>
      </p:sp>
      <p:sp>
        <p:nvSpPr>
          <p:cNvPr id="20" name="forecast 0"/>
          <p:cNvSpPr/>
          <p:nvPr/>
        </p:nvSpPr>
        <p:spPr>
          <a:xfrm>
            <a:off x="658368" y="1828800"/>
            <a:ext cx="51663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/>
          <a:lstStyle/>
          <a:p/>
        </p:txBody>
      </p:sp>
      <p:sp>
        <p:nvSpPr>
          <p:cNvPr id="21" name="forecast accent 0"/>
          <p:cNvSpPr/>
          <p:nvPr/>
        </p:nvSpPr>
        <p:spPr>
          <a:xfrm>
            <a:off x="658368" y="1828800"/>
            <a:ext cx="73152" cy="1325880"/>
          </a:xfrm>
          <a:prstGeom prst="rect">
            <a:avLst/>
          </a:prstGeom>
          <a:solidFill>
            <a:srgbClr val="B765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forecast text 0"/>
          <p:cNvSpPr txBox="1"/>
          <p:nvPr/>
        </p:nvSpPr>
        <p:spPr>
          <a:xfrm>
            <a:off x="822959" y="1938528"/>
            <a:ext cx="480060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950">
                <a:solidFill>
                  <a:srgbClr val="172536"/>
                </a:solidFill>
                <a:latin typeface="Arial"/>
                <a:ea typeface="Arial"/>
                <a:cs typeface="Arial"/>
              </a:rPr>
              <a:t>Complaint volume forecast</a:t>
            </a:r>
          </a:p>
          <a:p>
            <a:pPr algn="l" marL="0" indent="0">
              <a:spcBef>
                <a:spcPts val="600"/>
              </a:spcBef>
            </a:pPr>
            <a:r>
              <a:rPr lang="en-US" sz="950">
                <a:solidFill>
                  <a:srgbClr val="172536"/>
                </a:solidFill>
                <a:latin typeface="Arial"/>
                <a:ea typeface="Arial"/>
                <a:cs typeface="Arial"/>
              </a:rPr>
              <a:t>Passenger volume, delay context, website search spikes, past complaint rate</a:t>
            </a:r>
          </a:p>
        </p:txBody>
      </p:sp>
      <p:sp>
        <p:nvSpPr>
          <p:cNvPr id="23" name="forecast move 0"/>
          <p:cNvSpPr txBox="1"/>
          <p:nvPr/>
        </p:nvSpPr>
        <p:spPr>
          <a:xfrm>
            <a:off x="822959" y="2633472"/>
            <a:ext cx="4023360" cy="30175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850">
                <a:solidFill>
                  <a:srgbClr val="5C6F82"/>
                </a:solidFill>
                <a:latin typeface="Arial"/>
                <a:ea typeface="Arial"/>
                <a:cs typeface="Arial"/>
              </a:rPr>
              <a:t>Pre-stage communications and owner coverage before peak windows.</a:t>
            </a:r>
          </a:p>
        </p:txBody>
      </p:sp>
      <p:sp>
        <p:nvSpPr>
          <p:cNvPr id="24" name="bar-bg"/>
          <p:cNvSpPr/>
          <p:nvPr/>
        </p:nvSpPr>
        <p:spPr>
          <a:xfrm>
            <a:off x="4846320" y="2715768"/>
            <a:ext cx="658368" cy="91440"/>
          </a:xfrm>
          <a:prstGeom prst="roundRect">
            <a:avLst/>
          </a:prstGeom>
          <a:solidFill>
            <a:srgbClr val="D9E2EC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bar-fill"/>
          <p:cNvSpPr/>
          <p:nvPr/>
        </p:nvSpPr>
        <p:spPr>
          <a:xfrm>
            <a:off x="4846320" y="2715768"/>
            <a:ext cx="467441" cy="91440"/>
          </a:xfrm>
          <a:prstGeom prst="roundRect">
            <a:avLst/>
          </a:prstGeom>
          <a:solidFill>
            <a:srgbClr val="B765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confidence 0"/>
          <p:cNvSpPr txBox="1"/>
          <p:nvPr/>
        </p:nvSpPr>
        <p:spPr>
          <a:xfrm>
            <a:off x="4846320" y="2834640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 marL="0" indent="0">
              <a:spcBef>
                <a:spcPts val="0"/>
              </a:spcBef>
            </a:pPr>
            <a:r>
              <a:rPr lang="en-US" sz="700">
                <a:solidFill>
                  <a:srgbClr val="5C6F82"/>
                </a:solidFill>
                <a:latin typeface="Arial"/>
                <a:ea typeface="Arial"/>
                <a:cs typeface="Arial"/>
              </a:rPr>
              <a:t>71% conf.</a:t>
            </a:r>
          </a:p>
        </p:txBody>
      </p:sp>
      <p:sp>
        <p:nvSpPr>
          <p:cNvPr id="27" name="forecast 1"/>
          <p:cNvSpPr/>
          <p:nvPr/>
        </p:nvSpPr>
        <p:spPr>
          <a:xfrm>
            <a:off x="6236207" y="1828800"/>
            <a:ext cx="51663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/>
          <a:lstStyle/>
          <a:p/>
        </p:txBody>
      </p:sp>
      <p:sp>
        <p:nvSpPr>
          <p:cNvPr id="28" name="forecast accent 1"/>
          <p:cNvSpPr/>
          <p:nvPr/>
        </p:nvSpPr>
        <p:spPr>
          <a:xfrm>
            <a:off x="6236207" y="1828800"/>
            <a:ext cx="73152" cy="1325880"/>
          </a:xfrm>
          <a:prstGeom prst="rect">
            <a:avLst/>
          </a:prstGeom>
          <a:solidFill>
            <a:srgbClr val="B765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forecast text 1"/>
          <p:cNvSpPr txBox="1"/>
          <p:nvPr/>
        </p:nvSpPr>
        <p:spPr>
          <a:xfrm>
            <a:off x="6400799" y="1938528"/>
            <a:ext cx="480060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950">
                <a:solidFill>
                  <a:srgbClr val="172536"/>
                </a:solidFill>
                <a:latin typeface="Arial"/>
                <a:ea typeface="Arial"/>
                <a:cs typeface="Arial"/>
              </a:rPr>
              <a:t>Customer effort risk</a:t>
            </a:r>
          </a:p>
          <a:p>
            <a:pPr algn="l" marL="0" indent="0">
              <a:spcBef>
                <a:spcPts val="600"/>
              </a:spcBef>
            </a:pPr>
            <a:r>
              <a:rPr lang="en-US" sz="950">
                <a:solidFill>
                  <a:srgbClr val="172536"/>
                </a:solidFill>
                <a:latin typeface="Arial"/>
                <a:ea typeface="Arial"/>
                <a:cs typeface="Arial"/>
              </a:rPr>
              <a:t>Digital drop-off, search terms, information desk contacts, accessibility requests</a:t>
            </a:r>
          </a:p>
        </p:txBody>
      </p:sp>
      <p:sp>
        <p:nvSpPr>
          <p:cNvPr id="30" name="forecast move 1"/>
          <p:cNvSpPr txBox="1"/>
          <p:nvPr/>
        </p:nvSpPr>
        <p:spPr>
          <a:xfrm>
            <a:off x="6400799" y="2633472"/>
            <a:ext cx="4023360" cy="30175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850">
                <a:solidFill>
                  <a:srgbClr val="5C6F82"/>
                </a:solidFill>
                <a:latin typeface="Arial"/>
                <a:ea typeface="Arial"/>
                <a:cs typeface="Arial"/>
              </a:rPr>
              <a:t>Fix content and wayfinding where digital intent clusters.</a:t>
            </a:r>
          </a:p>
        </p:txBody>
      </p:sp>
      <p:sp>
        <p:nvSpPr>
          <p:cNvPr id="31" name="bar-bg"/>
          <p:cNvSpPr/>
          <p:nvPr/>
        </p:nvSpPr>
        <p:spPr>
          <a:xfrm>
            <a:off x="10424159" y="2715768"/>
            <a:ext cx="658368" cy="91440"/>
          </a:xfrm>
          <a:prstGeom prst="roundRect">
            <a:avLst/>
          </a:prstGeom>
          <a:solidFill>
            <a:srgbClr val="D9E2EC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bar-fill"/>
          <p:cNvSpPr/>
          <p:nvPr/>
        </p:nvSpPr>
        <p:spPr>
          <a:xfrm>
            <a:off x="10424159" y="2715768"/>
            <a:ext cx="441106" cy="91440"/>
          </a:xfrm>
          <a:prstGeom prst="roundRect">
            <a:avLst/>
          </a:prstGeom>
          <a:solidFill>
            <a:srgbClr val="B765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confidence 1"/>
          <p:cNvSpPr txBox="1"/>
          <p:nvPr/>
        </p:nvSpPr>
        <p:spPr>
          <a:xfrm>
            <a:off x="10424159" y="2834640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 marL="0" indent="0">
              <a:spcBef>
                <a:spcPts val="0"/>
              </a:spcBef>
            </a:pPr>
            <a:r>
              <a:rPr lang="en-US" sz="700">
                <a:solidFill>
                  <a:srgbClr val="5C6F82"/>
                </a:solidFill>
                <a:latin typeface="Arial"/>
                <a:ea typeface="Arial"/>
                <a:cs typeface="Arial"/>
              </a:rPr>
              <a:t>67% conf.</a:t>
            </a:r>
          </a:p>
        </p:txBody>
      </p:sp>
      <p:sp>
        <p:nvSpPr>
          <p:cNvPr id="34" name="forecast 2"/>
          <p:cNvSpPr/>
          <p:nvPr/>
        </p:nvSpPr>
        <p:spPr>
          <a:xfrm>
            <a:off x="658368" y="3474720"/>
            <a:ext cx="51663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/>
          <a:lstStyle/>
          <a:p/>
        </p:txBody>
      </p:sp>
      <p:sp>
        <p:nvSpPr>
          <p:cNvPr id="35" name="forecast accent 2"/>
          <p:cNvSpPr/>
          <p:nvPr/>
        </p:nvSpPr>
        <p:spPr>
          <a:xfrm>
            <a:off x="658368" y="3474720"/>
            <a:ext cx="73152" cy="132588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forecast text 2"/>
          <p:cNvSpPr txBox="1"/>
          <p:nvPr/>
        </p:nvSpPr>
        <p:spPr>
          <a:xfrm>
            <a:off x="822959" y="3584448"/>
            <a:ext cx="480060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950">
                <a:solidFill>
                  <a:srgbClr val="172536"/>
                </a:solidFill>
                <a:latin typeface="Arial"/>
                <a:ea typeface="Arial"/>
                <a:cs typeface="Arial"/>
              </a:rPr>
              <a:t>Accessibility escalation</a:t>
            </a:r>
          </a:p>
          <a:p>
            <a:pPr algn="l" marL="0" indent="0">
              <a:spcBef>
                <a:spcPts val="600"/>
              </a:spcBef>
            </a:pPr>
            <a:r>
              <a:rPr lang="en-US" sz="950">
                <a:solidFill>
                  <a:srgbClr val="172536"/>
                </a:solidFill>
                <a:latin typeface="Arial"/>
                <a:ea typeface="Arial"/>
                <a:cs typeface="Arial"/>
              </a:rPr>
              <a:t>Program contacts, alternate-format requests, handoff owner gaps, repeat themes</a:t>
            </a:r>
          </a:p>
        </p:txBody>
      </p:sp>
      <p:sp>
        <p:nvSpPr>
          <p:cNvPr id="37" name="forecast move 2"/>
          <p:cNvSpPr txBox="1"/>
          <p:nvPr/>
        </p:nvSpPr>
        <p:spPr>
          <a:xfrm>
            <a:off x="822959" y="4279392"/>
            <a:ext cx="4023360" cy="30175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850">
                <a:solidFill>
                  <a:srgbClr val="5C6F82"/>
                </a:solidFill>
                <a:latin typeface="Arial"/>
                <a:ea typeface="Arial"/>
                <a:cs typeface="Arial"/>
              </a:rPr>
              <a:t>Approve restricted analytics and anonymized trend reporting.</a:t>
            </a:r>
          </a:p>
        </p:txBody>
      </p:sp>
      <p:sp>
        <p:nvSpPr>
          <p:cNvPr id="38" name="bar-bg"/>
          <p:cNvSpPr/>
          <p:nvPr/>
        </p:nvSpPr>
        <p:spPr>
          <a:xfrm>
            <a:off x="4846320" y="4361688"/>
            <a:ext cx="658368" cy="91440"/>
          </a:xfrm>
          <a:prstGeom prst="roundRect">
            <a:avLst/>
          </a:prstGeom>
          <a:solidFill>
            <a:srgbClr val="D9E2EC"/>
          </a:solidFill>
          <a:ln>
            <a:noFill/>
          </a:ln>
        </p:spPr>
        <p:txBody>
          <a:bodyPr/>
          <a:lstStyle/>
          <a:p/>
        </p:txBody>
      </p:sp>
      <p:sp>
        <p:nvSpPr>
          <p:cNvPr id="39" name="bar-fill"/>
          <p:cNvSpPr/>
          <p:nvPr/>
        </p:nvSpPr>
        <p:spPr>
          <a:xfrm>
            <a:off x="4846320" y="4361688"/>
            <a:ext cx="421355" cy="91440"/>
          </a:xfrm>
          <a:prstGeom prst="roundRect">
            <a:avLst/>
          </a:prstGeom>
          <a:solidFill>
            <a:srgbClr val="B42318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confidence 2"/>
          <p:cNvSpPr txBox="1"/>
          <p:nvPr/>
        </p:nvSpPr>
        <p:spPr>
          <a:xfrm>
            <a:off x="4846320" y="4480560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 marL="0" indent="0">
              <a:spcBef>
                <a:spcPts val="0"/>
              </a:spcBef>
            </a:pPr>
            <a:r>
              <a:rPr lang="en-US" sz="700">
                <a:solidFill>
                  <a:srgbClr val="5C6F82"/>
                </a:solidFill>
                <a:latin typeface="Arial"/>
                <a:ea typeface="Arial"/>
                <a:cs typeface="Arial"/>
              </a:rPr>
              <a:t>64% conf.</a:t>
            </a:r>
          </a:p>
        </p:txBody>
      </p:sp>
      <p:sp>
        <p:nvSpPr>
          <p:cNvPr id="41" name="forecast 3"/>
          <p:cNvSpPr/>
          <p:nvPr/>
        </p:nvSpPr>
        <p:spPr>
          <a:xfrm>
            <a:off x="6236207" y="3474720"/>
            <a:ext cx="51663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/>
          <a:lstStyle/>
          <a:p/>
        </p:txBody>
      </p:sp>
      <p:sp>
        <p:nvSpPr>
          <p:cNvPr id="42" name="forecast accent 3"/>
          <p:cNvSpPr/>
          <p:nvPr/>
        </p:nvSpPr>
        <p:spPr>
          <a:xfrm>
            <a:off x="6236207" y="3474720"/>
            <a:ext cx="73152" cy="132588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forecast text 3"/>
          <p:cNvSpPr txBox="1"/>
          <p:nvPr/>
        </p:nvSpPr>
        <p:spPr>
          <a:xfrm>
            <a:off x="6400799" y="3584448"/>
            <a:ext cx="4800600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950">
                <a:solidFill>
                  <a:srgbClr val="172536"/>
                </a:solidFill>
                <a:latin typeface="Arial"/>
                <a:ea typeface="Arial"/>
                <a:cs typeface="Arial"/>
              </a:rPr>
              <a:t>PNE follow-up risk</a:t>
            </a:r>
          </a:p>
          <a:p>
            <a:pPr algn="l" marL="0" indent="0">
              <a:spcBef>
                <a:spcPts val="600"/>
              </a:spcBef>
            </a:pPr>
            <a:r>
              <a:rPr lang="en-US" sz="950">
                <a:solidFill>
                  <a:srgbClr val="172536"/>
                </a:solidFill>
                <a:latin typeface="Arial"/>
                <a:ea typeface="Arial"/>
                <a:cs typeface="Arial"/>
              </a:rPr>
              <a:t>Open facility requests, tenant contacts, customs coordination, owner gaps</a:t>
            </a:r>
          </a:p>
        </p:txBody>
      </p:sp>
      <p:sp>
        <p:nvSpPr>
          <p:cNvPr id="44" name="forecast move 3"/>
          <p:cNvSpPr txBox="1"/>
          <p:nvPr/>
        </p:nvSpPr>
        <p:spPr>
          <a:xfrm>
            <a:off x="6400799" y="4279392"/>
            <a:ext cx="4023360" cy="30175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850">
                <a:solidFill>
                  <a:srgbClr val="5C6F82"/>
                </a:solidFill>
                <a:latin typeface="Arial"/>
                <a:ea typeface="Arial"/>
                <a:cs typeface="Arial"/>
              </a:rPr>
              <a:t>Launch PNE service request template with owner, response, closure fields.</a:t>
            </a:r>
          </a:p>
        </p:txBody>
      </p:sp>
      <p:sp>
        <p:nvSpPr>
          <p:cNvPr id="45" name="bar-bg"/>
          <p:cNvSpPr/>
          <p:nvPr/>
        </p:nvSpPr>
        <p:spPr>
          <a:xfrm>
            <a:off x="10424159" y="4361688"/>
            <a:ext cx="658368" cy="91440"/>
          </a:xfrm>
          <a:prstGeom prst="roundRect">
            <a:avLst/>
          </a:prstGeom>
          <a:solidFill>
            <a:srgbClr val="D9E2EC"/>
          </a:solidFill>
          <a:ln>
            <a:noFill/>
          </a:ln>
        </p:spPr>
        <p:txBody>
          <a:bodyPr/>
          <a:lstStyle/>
          <a:p/>
        </p:txBody>
      </p:sp>
      <p:sp>
        <p:nvSpPr>
          <p:cNvPr id="46" name="bar-fill"/>
          <p:cNvSpPr/>
          <p:nvPr/>
        </p:nvSpPr>
        <p:spPr>
          <a:xfrm>
            <a:off x="10424159" y="4361688"/>
            <a:ext cx="408188" cy="91440"/>
          </a:xfrm>
          <a:prstGeom prst="roundRect">
            <a:avLst/>
          </a:prstGeom>
          <a:solidFill>
            <a:srgbClr val="B42318"/>
          </a:solidFill>
          <a:ln>
            <a:noFill/>
          </a:ln>
        </p:spPr>
        <p:txBody>
          <a:bodyPr/>
          <a:lstStyle/>
          <a:p/>
        </p:txBody>
      </p:sp>
      <p:sp>
        <p:nvSpPr>
          <p:cNvPr id="47" name="confidence 3"/>
          <p:cNvSpPr txBox="1"/>
          <p:nvPr/>
        </p:nvSpPr>
        <p:spPr>
          <a:xfrm>
            <a:off x="10424159" y="4480560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 marL="0" indent="0">
              <a:spcBef>
                <a:spcPts val="0"/>
              </a:spcBef>
            </a:pPr>
            <a:r>
              <a:rPr lang="en-US" sz="700">
                <a:solidFill>
                  <a:srgbClr val="5C6F82"/>
                </a:solidFill>
                <a:latin typeface="Arial"/>
                <a:ea typeface="Arial"/>
                <a:cs typeface="Arial"/>
              </a:rPr>
              <a:t>62% conf.</a:t>
            </a:r>
          </a:p>
        </p:txBody>
      </p:sp>
      <p:sp>
        <p:nvSpPr>
          <p:cNvPr id="48" name="forecast-note"/>
          <p:cNvSpPr txBox="1"/>
          <p:nvPr/>
        </p:nvSpPr>
        <p:spPr>
          <a:xfrm>
            <a:off x="658368" y="5330952"/>
            <a:ext cx="10698480" cy="411480"/>
          </a:xfrm>
          <a:prstGeom prst="rect">
            <a:avLst/>
          </a:prstGeom>
          <a:solidFill>
            <a:srgbClr val="EEF5FC"/>
          </a:solidFill>
          <a:ln w="12700">
            <a:solidFill>
              <a:srgbClr val="D9E2EC"/>
            </a:solidFill>
          </a:ln>
        </p:spPr>
        <p:txBody>
          <a:bodyPr wrap="square" anchor="t" lIns="76200" tIns="76200" rIns="76200" bIns="76200"/>
          <a:lstStyle/>
          <a:p>
            <a:pPr algn="l" marL="0" indent="0">
              <a:spcBef>
                <a:spcPts val="0"/>
              </a:spcBef>
            </a:pPr>
            <a:r>
              <a:rPr lang="en-US" sz="1250">
                <a:solidFill>
                  <a:srgbClr val="172536"/>
                </a:solidFill>
                <a:latin typeface="Arial"/>
                <a:ea typeface="Arial"/>
                <a:cs typeface="Arial"/>
              </a:rPr>
              <a:t>Forecasting standard: use leading indicators to move from reactive service recovery to proactive staffing, communication, content, and relationship actions.</a:t>
            </a:r>
          </a:p>
        </p:txBody>
      </p:sp>
      <p:sp>
        <p:nvSpPr>
          <p:cNvPr id="800" name="footer"/>
          <p:cNvSpPr txBox="1"/>
          <p:nvPr/>
        </p:nvSpPr>
        <p:spPr>
          <a:xfrm>
            <a:off x="585216" y="6473952"/>
            <a:ext cx="813816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850">
                <a:solidFill>
                  <a:srgbClr val="5C6F82"/>
                </a:solidFill>
                <a:latin typeface="Arial"/>
                <a:ea typeface="Arial"/>
                <a:cs typeface="Arial"/>
              </a:rPr>
              <a:t>Public-source prototype. CRM, survey, accessibility, passenger, and PNE relationship records require approved internal systems and governance controls.</a:t>
            </a:r>
          </a:p>
        </p:txBody>
      </p:sp>
      <p:sp>
        <p:nvSpPr>
          <p:cNvPr id="801" name="slide-number"/>
          <p:cNvSpPr txBox="1"/>
          <p:nvPr/>
        </p:nvSpPr>
        <p:spPr>
          <a:xfrm>
            <a:off x="10835640" y="647395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 marL="0" indent="0">
              <a:spcBef>
                <a:spcPts val="0"/>
              </a:spcBef>
            </a:pPr>
            <a:r>
              <a:rPr lang="en-US" sz="900" b="1">
                <a:solidFill>
                  <a:srgbClr val="5C6F82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service-bar"/>
          <p:cNvSpPr/>
          <p:nvPr/>
        </p:nvSpPr>
        <p:spPr>
          <a:xfrm>
            <a:off x="0" y="0"/>
            <a:ext cx="12191695" cy="420624"/>
          </a:xfrm>
          <a:prstGeom prst="rect">
            <a:avLst/>
          </a:prstGeom>
          <a:solidFill>
            <a:srgbClr val="0F3B63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gold-bar"/>
          <p:cNvSpPr/>
          <p:nvPr/>
        </p:nvSpPr>
        <p:spPr>
          <a:xfrm>
            <a:off x="0" y="0"/>
            <a:ext cx="109728" cy="420624"/>
          </a:xfrm>
          <a:prstGeom prst="rect">
            <a:avLst/>
          </a:prstGeom>
          <a:solidFill>
            <a:srgbClr val="F3C613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agency"/>
          <p:cNvSpPr txBox="1"/>
          <p:nvPr/>
        </p:nvSpPr>
        <p:spPr>
          <a:xfrm>
            <a:off x="256032" y="73152"/>
            <a:ext cx="530352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City of Philadelphia / Department of Aviation</a:t>
            </a:r>
          </a:p>
        </p:txBody>
      </p:sp>
      <p:sp>
        <p:nvSpPr>
          <p:cNvPr id="5" name="eyebrow"/>
          <p:cNvSpPr txBox="1"/>
          <p:nvPr/>
        </p:nvSpPr>
        <p:spPr>
          <a:xfrm>
            <a:off x="8229600" y="73152"/>
            <a:ext cx="356616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 marL="0" indent="0">
              <a:spcBef>
                <a:spcPts val="0"/>
              </a:spcBef>
            </a:pPr>
            <a:r>
              <a:rPr lang="en-US" sz="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EVIDENCE CHAIN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566928" y="713232"/>
            <a:ext cx="10881360" cy="43891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2650" b="1">
                <a:solidFill>
                  <a:srgbClr val="0F3B63"/>
                </a:solidFill>
                <a:latin typeface="Arial"/>
                <a:ea typeface="Arial"/>
                <a:cs typeface="Arial"/>
              </a:rPr>
              <a:t>Credibility Comes From Showing The Derivation</a:t>
            </a:r>
          </a:p>
        </p:txBody>
      </p:sp>
      <p:sp>
        <p:nvSpPr>
          <p:cNvPr id="7" name="subtitle"/>
          <p:cNvSpPr txBox="1"/>
          <p:nvPr/>
        </p:nvSpPr>
        <p:spPr>
          <a:xfrm>
            <a:off x="585216" y="1152144"/>
            <a:ext cx="105613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1250">
                <a:solidFill>
                  <a:srgbClr val="5C6F82"/>
                </a:solidFill>
                <a:latin typeface="Arial"/>
                <a:ea typeface="Arial"/>
                <a:cs typeface="Arial"/>
              </a:rPr>
              <a:t>The dashboard makes every insight traceable from public evidence to internal data request, reporting artifact, and leadership decision.</a:t>
            </a:r>
          </a:p>
        </p:txBody>
      </p:sp>
      <p:sp>
        <p:nvSpPr>
          <p:cNvPr id="20" name="Posting requirement accent"/>
          <p:cNvSpPr/>
          <p:nvPr/>
        </p:nvSpPr>
        <p:spPr>
          <a:xfrm>
            <a:off x="640080" y="1901952"/>
            <a:ext cx="73152" cy="1508760"/>
          </a:xfrm>
          <a:prstGeom prst="rect">
            <a:avLst/>
          </a:prstGeom>
          <a:solidFill>
            <a:srgbClr val="0F4D90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Posting requirement"/>
          <p:cNvSpPr txBox="1"/>
          <p:nvPr/>
        </p:nvSpPr>
        <p:spPr>
          <a:xfrm>
            <a:off x="713231" y="1901952"/>
            <a:ext cx="157276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anchor="t" lIns="76200" tIns="76200" rIns="76200" bIns="76200"/>
          <a:lstStyle/>
          <a:p>
            <a:pPr algn="l" marL="0" indent="0">
              <a:spcBef>
                <a:spcPts val="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Posting requirement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CRM, feedback systems, dashboards, governance, privacy, IT partnership.</a:t>
            </a:r>
          </a:p>
        </p:txBody>
      </p:sp>
      <p:sp>
        <p:nvSpPr>
          <p:cNvPr id="22" name="arrow 0"/>
          <p:cNvSpPr txBox="1"/>
          <p:nvPr/>
        </p:nvSpPr>
        <p:spPr>
          <a:xfrm>
            <a:off x="2212848" y="2487168"/>
            <a:ext cx="2743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1500" b="1">
                <a:solidFill>
                  <a:srgbClr val="5C6F82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23" name="Public source fact accent"/>
          <p:cNvSpPr/>
          <p:nvPr/>
        </p:nvSpPr>
        <p:spPr>
          <a:xfrm>
            <a:off x="2514600" y="1901952"/>
            <a:ext cx="73152" cy="1508760"/>
          </a:xfrm>
          <a:prstGeom prst="rect">
            <a:avLst/>
          </a:prstGeom>
          <a:solidFill>
            <a:srgbClr val="0F4D90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Public source fact"/>
          <p:cNvSpPr txBox="1"/>
          <p:nvPr/>
        </p:nvSpPr>
        <p:spPr>
          <a:xfrm>
            <a:off x="2587752" y="1901952"/>
            <a:ext cx="157276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anchor="t" lIns="76200" tIns="76200" rIns="76200" bIns="76200"/>
          <a:lstStyle/>
          <a:p>
            <a:pPr algn="l" marL="0" indent="0">
              <a:spcBef>
                <a:spcPts val="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Public source fact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PHL/PNE, accessibility, FAA/BTS, and public activity anchors.</a:t>
            </a:r>
          </a:p>
        </p:txBody>
      </p:sp>
      <p:sp>
        <p:nvSpPr>
          <p:cNvPr id="25" name="arrow 1"/>
          <p:cNvSpPr txBox="1"/>
          <p:nvPr/>
        </p:nvSpPr>
        <p:spPr>
          <a:xfrm>
            <a:off x="4087368" y="2487168"/>
            <a:ext cx="2743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1500" b="1">
                <a:solidFill>
                  <a:srgbClr val="5C6F82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26" name="CX question accent"/>
          <p:cNvSpPr/>
          <p:nvPr/>
        </p:nvSpPr>
        <p:spPr>
          <a:xfrm>
            <a:off x="4389120" y="1901952"/>
            <a:ext cx="73152" cy="1508760"/>
          </a:xfrm>
          <a:prstGeom prst="rect">
            <a:avLst/>
          </a:prstGeom>
          <a:solidFill>
            <a:srgbClr val="25805A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CX question"/>
          <p:cNvSpPr txBox="1"/>
          <p:nvPr/>
        </p:nvSpPr>
        <p:spPr>
          <a:xfrm>
            <a:off x="4462272" y="1901952"/>
            <a:ext cx="157276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anchor="t" lIns="76200" tIns="76200" rIns="76200" bIns="76200"/>
          <a:lstStyle/>
          <a:p>
            <a:pPr algn="l" marL="0" indent="0">
              <a:spcBef>
                <a:spcPts val="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CX question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Which passenger or customer friction needs executive attention?</a:t>
            </a:r>
          </a:p>
        </p:txBody>
      </p:sp>
      <p:sp>
        <p:nvSpPr>
          <p:cNvPr id="28" name="arrow 2"/>
          <p:cNvSpPr txBox="1"/>
          <p:nvPr/>
        </p:nvSpPr>
        <p:spPr>
          <a:xfrm>
            <a:off x="5961888" y="2487168"/>
            <a:ext cx="2743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1500" b="1">
                <a:solidFill>
                  <a:srgbClr val="5C6F82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29" name="Internal data needed accent"/>
          <p:cNvSpPr/>
          <p:nvPr/>
        </p:nvSpPr>
        <p:spPr>
          <a:xfrm>
            <a:off x="6263640" y="1901952"/>
            <a:ext cx="73152" cy="1508760"/>
          </a:xfrm>
          <a:prstGeom prst="rect">
            <a:avLst/>
          </a:prstGeom>
          <a:solidFill>
            <a:srgbClr val="25805A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Internal data needed"/>
          <p:cNvSpPr txBox="1"/>
          <p:nvPr/>
        </p:nvSpPr>
        <p:spPr>
          <a:xfrm>
            <a:off x="6336792" y="1901952"/>
            <a:ext cx="157276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anchor="t" lIns="76200" tIns="76200" rIns="76200" bIns="76200"/>
          <a:lstStyle/>
          <a:p>
            <a:pPr algn="l" marL="0" indent="0">
              <a:spcBef>
                <a:spcPts val="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Internal data needed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CRM cases, surveys, timestamps, owner, segment, closure outcome.</a:t>
            </a:r>
          </a:p>
        </p:txBody>
      </p:sp>
      <p:sp>
        <p:nvSpPr>
          <p:cNvPr id="31" name="arrow 3"/>
          <p:cNvSpPr txBox="1"/>
          <p:nvPr/>
        </p:nvSpPr>
        <p:spPr>
          <a:xfrm>
            <a:off x="7836408" y="2487168"/>
            <a:ext cx="2743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1500" b="1">
                <a:solidFill>
                  <a:srgbClr val="5C6F82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32" name="Dashboard artifact accent"/>
          <p:cNvSpPr/>
          <p:nvPr/>
        </p:nvSpPr>
        <p:spPr>
          <a:xfrm>
            <a:off x="8138159" y="1901952"/>
            <a:ext cx="73152" cy="1508760"/>
          </a:xfrm>
          <a:prstGeom prst="rect">
            <a:avLst/>
          </a:prstGeom>
          <a:solidFill>
            <a:srgbClr val="25805A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Dashboard artifact"/>
          <p:cNvSpPr txBox="1"/>
          <p:nvPr/>
        </p:nvSpPr>
        <p:spPr>
          <a:xfrm>
            <a:off x="8211311" y="1901952"/>
            <a:ext cx="157276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anchor="t" lIns="76200" tIns="76200" rIns="76200" bIns="76200"/>
          <a:lstStyle/>
          <a:p>
            <a:pPr algn="l" marL="0" indent="0">
              <a:spcBef>
                <a:spcPts val="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Dashboard artifact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KPI cockpit, journey map, evidence chain, report export.</a:t>
            </a:r>
          </a:p>
        </p:txBody>
      </p:sp>
      <p:sp>
        <p:nvSpPr>
          <p:cNvPr id="34" name="arrow 4"/>
          <p:cNvSpPr txBox="1"/>
          <p:nvPr/>
        </p:nvSpPr>
        <p:spPr>
          <a:xfrm>
            <a:off x="9710928" y="2487168"/>
            <a:ext cx="2743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1500" b="1">
                <a:solidFill>
                  <a:srgbClr val="5C6F82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35" name="Decision supported accent"/>
          <p:cNvSpPr/>
          <p:nvPr/>
        </p:nvSpPr>
        <p:spPr>
          <a:xfrm>
            <a:off x="10012680" y="1901952"/>
            <a:ext cx="73152" cy="1508760"/>
          </a:xfrm>
          <a:prstGeom prst="rect">
            <a:avLst/>
          </a:prstGeom>
          <a:solidFill>
            <a:srgbClr val="B765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Decision supported"/>
          <p:cNvSpPr txBox="1"/>
          <p:nvPr/>
        </p:nvSpPr>
        <p:spPr>
          <a:xfrm>
            <a:off x="10085832" y="1901952"/>
            <a:ext cx="1572768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anchor="t" lIns="76200" tIns="76200" rIns="76200" bIns="76200"/>
          <a:lstStyle/>
          <a:p>
            <a:pPr algn="l" marL="0" indent="0">
              <a:spcBef>
                <a:spcPts val="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Decision supported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Approve feed, fix service gap, train staff, or govern privacy lane.</a:t>
            </a:r>
          </a:p>
        </p:txBody>
      </p:sp>
      <p:sp>
        <p:nvSpPr>
          <p:cNvPr id="37" name="30M+ passengers and 126 gates bg"/>
          <p:cNvSpPr/>
          <p:nvPr/>
        </p:nvSpPr>
        <p:spPr>
          <a:xfrm>
            <a:off x="658368" y="3913632"/>
            <a:ext cx="33375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/>
          <a:lstStyle/>
          <a:p/>
        </p:txBody>
      </p:sp>
      <p:sp>
        <p:nvSpPr>
          <p:cNvPr id="38" name="30M+ passengers and 126 gates top"/>
          <p:cNvSpPr/>
          <p:nvPr/>
        </p:nvSpPr>
        <p:spPr>
          <a:xfrm>
            <a:off x="658368" y="3913632"/>
            <a:ext cx="3337560" cy="73152"/>
          </a:xfrm>
          <a:prstGeom prst="rect">
            <a:avLst/>
          </a:prstGeom>
          <a:solidFill>
            <a:srgbClr val="0F3B63"/>
          </a:solidFill>
          <a:ln>
            <a:noFill/>
          </a:ln>
        </p:spPr>
        <p:txBody>
          <a:bodyPr/>
          <a:lstStyle/>
          <a:p/>
        </p:txBody>
      </p:sp>
      <p:sp>
        <p:nvSpPr>
          <p:cNvPr id="39" name="30M+ passengers and 126 gates text"/>
          <p:cNvSpPr txBox="1"/>
          <p:nvPr/>
        </p:nvSpPr>
        <p:spPr>
          <a:xfrm>
            <a:off x="704088" y="3950208"/>
            <a:ext cx="3246120" cy="1005839"/>
          </a:xfrm>
          <a:prstGeom prst="rect">
            <a:avLst/>
          </a:prstGeom>
          <a:noFill/>
          <a:ln>
            <a:noFill/>
          </a:ln>
        </p:spPr>
        <p:txBody>
          <a:bodyPr wrap="square" anchor="t" lIns="60960" tIns="60960" rIns="60960" bIns="60960"/>
          <a:lstStyle/>
          <a:p>
            <a:pPr algn="l" marL="0" indent="0">
              <a:spcBef>
                <a:spcPts val="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PHL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30M+ passengers and 126 gates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Journey-stage friction and self-service gaps.</a:t>
            </a:r>
          </a:p>
        </p:txBody>
      </p:sp>
      <p:sp>
        <p:nvSpPr>
          <p:cNvPr id="40" name="AIRA, TSA Cares, Sunflower, ADA/Title VI routes bg"/>
          <p:cNvSpPr/>
          <p:nvPr/>
        </p:nvSpPr>
        <p:spPr>
          <a:xfrm>
            <a:off x="4361688" y="3913632"/>
            <a:ext cx="33375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/>
          <a:lstStyle/>
          <a:p/>
        </p:txBody>
      </p:sp>
      <p:sp>
        <p:nvSpPr>
          <p:cNvPr id="41" name="AIRA, TSA Cares, Sunflower, ADA/Title VI routes top"/>
          <p:cNvSpPr/>
          <p:nvPr/>
        </p:nvSpPr>
        <p:spPr>
          <a:xfrm>
            <a:off x="4361688" y="3913632"/>
            <a:ext cx="3337560" cy="73152"/>
          </a:xfrm>
          <a:prstGeom prst="rect">
            <a:avLst/>
          </a:prstGeom>
          <a:solidFill>
            <a:srgbClr val="0F3B63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AIRA, TSA Cares, Sunflower, ADA/Title VI routes text"/>
          <p:cNvSpPr txBox="1"/>
          <p:nvPr/>
        </p:nvSpPr>
        <p:spPr>
          <a:xfrm>
            <a:off x="4407407" y="3950208"/>
            <a:ext cx="3246120" cy="1005839"/>
          </a:xfrm>
          <a:prstGeom prst="rect">
            <a:avLst/>
          </a:prstGeom>
          <a:noFill/>
          <a:ln>
            <a:noFill/>
          </a:ln>
        </p:spPr>
        <p:txBody>
          <a:bodyPr wrap="square" anchor="t" lIns="60960" tIns="60960" rIns="60960" bIns="60960"/>
          <a:lstStyle/>
          <a:p>
            <a:pPr algn="l" marL="0" indent="0">
              <a:spcBef>
                <a:spcPts val="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ACCESSIBILITY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AIRA, TSA Cares, Sunflower, ADA/Title VI routes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High-value trend reporting with restricted details.</a:t>
            </a:r>
          </a:p>
        </p:txBody>
      </p:sp>
      <p:sp>
        <p:nvSpPr>
          <p:cNvPr id="43" name="Reliever airport, based aircraft, customs services bg"/>
          <p:cNvSpPr/>
          <p:nvPr/>
        </p:nvSpPr>
        <p:spPr>
          <a:xfrm>
            <a:off x="8065008" y="3913632"/>
            <a:ext cx="33375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/>
          <a:lstStyle/>
          <a:p/>
        </p:txBody>
      </p:sp>
      <p:sp>
        <p:nvSpPr>
          <p:cNvPr id="44" name="Reliever airport, based aircraft, customs services top"/>
          <p:cNvSpPr/>
          <p:nvPr/>
        </p:nvSpPr>
        <p:spPr>
          <a:xfrm>
            <a:off x="8065008" y="3913632"/>
            <a:ext cx="3337560" cy="73152"/>
          </a:xfrm>
          <a:prstGeom prst="rect">
            <a:avLst/>
          </a:prstGeom>
          <a:solidFill>
            <a:srgbClr val="0F3B63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Reliever airport, based aircraft, customs services text"/>
          <p:cNvSpPr txBox="1"/>
          <p:nvPr/>
        </p:nvSpPr>
        <p:spPr>
          <a:xfrm>
            <a:off x="8110728" y="3950208"/>
            <a:ext cx="3246120" cy="1005839"/>
          </a:xfrm>
          <a:prstGeom prst="rect">
            <a:avLst/>
          </a:prstGeom>
          <a:noFill/>
          <a:ln>
            <a:noFill/>
          </a:ln>
        </p:spPr>
        <p:txBody>
          <a:bodyPr wrap="square" anchor="t" lIns="60960" tIns="60960" rIns="60960" bIns="60960"/>
          <a:lstStyle/>
          <a:p>
            <a:pPr algn="l" marL="0" indent="0">
              <a:spcBef>
                <a:spcPts val="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PNE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Reliever airport, based aircraft, customs services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Relationship register for pilots, tenants, facility requests.</a:t>
            </a:r>
          </a:p>
        </p:txBody>
      </p:sp>
      <p:sp>
        <p:nvSpPr>
          <p:cNvPr id="800" name="footer"/>
          <p:cNvSpPr txBox="1"/>
          <p:nvPr/>
        </p:nvSpPr>
        <p:spPr>
          <a:xfrm>
            <a:off x="585216" y="6473952"/>
            <a:ext cx="813816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850">
                <a:solidFill>
                  <a:srgbClr val="5C6F82"/>
                </a:solidFill>
                <a:latin typeface="Arial"/>
                <a:ea typeface="Arial"/>
                <a:cs typeface="Arial"/>
              </a:rPr>
              <a:t>Public-source prototype. CRM, survey, accessibility, passenger, and PNE relationship records require approved internal systems and governance controls.</a:t>
            </a:r>
          </a:p>
        </p:txBody>
      </p:sp>
      <p:sp>
        <p:nvSpPr>
          <p:cNvPr id="801" name="slide-number"/>
          <p:cNvSpPr txBox="1"/>
          <p:nvPr/>
        </p:nvSpPr>
        <p:spPr>
          <a:xfrm>
            <a:off x="10835640" y="647395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 marL="0" indent="0">
              <a:spcBef>
                <a:spcPts val="0"/>
              </a:spcBef>
            </a:pPr>
            <a:r>
              <a:rPr lang="en-US" sz="900" b="1">
                <a:solidFill>
                  <a:srgbClr val="5C6F82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service-bar"/>
          <p:cNvSpPr/>
          <p:nvPr/>
        </p:nvSpPr>
        <p:spPr>
          <a:xfrm>
            <a:off x="0" y="0"/>
            <a:ext cx="12191695" cy="420624"/>
          </a:xfrm>
          <a:prstGeom prst="rect">
            <a:avLst/>
          </a:prstGeom>
          <a:solidFill>
            <a:srgbClr val="0F3B63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gold-bar"/>
          <p:cNvSpPr/>
          <p:nvPr/>
        </p:nvSpPr>
        <p:spPr>
          <a:xfrm>
            <a:off x="0" y="0"/>
            <a:ext cx="109728" cy="420624"/>
          </a:xfrm>
          <a:prstGeom prst="rect">
            <a:avLst/>
          </a:prstGeom>
          <a:solidFill>
            <a:srgbClr val="F3C613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agency"/>
          <p:cNvSpPr txBox="1"/>
          <p:nvPr/>
        </p:nvSpPr>
        <p:spPr>
          <a:xfrm>
            <a:off x="256032" y="73152"/>
            <a:ext cx="530352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City of Philadelphia / Department of Aviation</a:t>
            </a:r>
          </a:p>
        </p:txBody>
      </p:sp>
      <p:sp>
        <p:nvSpPr>
          <p:cNvPr id="5" name="eyebrow"/>
          <p:cNvSpPr txBox="1"/>
          <p:nvPr/>
        </p:nvSpPr>
        <p:spPr>
          <a:xfrm>
            <a:off x="8229600" y="73152"/>
            <a:ext cx="356616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 marL="0" indent="0">
              <a:spcBef>
                <a:spcPts val="0"/>
              </a:spcBef>
            </a:pPr>
            <a:r>
              <a:rPr lang="en-US" sz="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ARCHITECTURE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566928" y="713232"/>
            <a:ext cx="10881360" cy="43891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2650" b="1">
                <a:solidFill>
                  <a:srgbClr val="0F3B63"/>
                </a:solidFill>
                <a:latin typeface="Arial"/>
                <a:ea typeface="Arial"/>
                <a:cs typeface="Arial"/>
              </a:rPr>
              <a:t>Connect Feeds Without Losing Department Workflows</a:t>
            </a:r>
          </a:p>
        </p:txBody>
      </p:sp>
      <p:sp>
        <p:nvSpPr>
          <p:cNvPr id="7" name="subtitle"/>
          <p:cNvSpPr txBox="1"/>
          <p:nvPr/>
        </p:nvSpPr>
        <p:spPr>
          <a:xfrm>
            <a:off x="585216" y="1152144"/>
            <a:ext cx="105613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1250">
                <a:solidFill>
                  <a:srgbClr val="5C6F82"/>
                </a:solidFill>
                <a:latin typeface="Arial"/>
                <a:ea typeface="Arial"/>
                <a:cs typeface="Arial"/>
              </a:rPr>
              <a:t>Teams can keep their templates and processes, while the dashboard centralizes metadata, quality controls, reporting logic, and decision ownership.</a:t>
            </a:r>
          </a:p>
        </p:txBody>
      </p:sp>
      <p:sp>
        <p:nvSpPr>
          <p:cNvPr id="20" name="CRM cases accent"/>
          <p:cNvSpPr/>
          <p:nvPr/>
        </p:nvSpPr>
        <p:spPr>
          <a:xfrm>
            <a:off x="685800" y="1828800"/>
            <a:ext cx="73152" cy="713232"/>
          </a:xfrm>
          <a:prstGeom prst="rect">
            <a:avLst/>
          </a:prstGeom>
          <a:solidFill>
            <a:srgbClr val="25805A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CRM cases"/>
          <p:cNvSpPr txBox="1"/>
          <p:nvPr/>
        </p:nvSpPr>
        <p:spPr>
          <a:xfrm>
            <a:off x="758952" y="1828800"/>
            <a:ext cx="308152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anchor="t" lIns="76200" tIns="76200" rIns="76200" bIns="76200"/>
          <a:lstStyle/>
          <a:p>
            <a:pPr algn="l" marL="0" indent="0">
              <a:spcBef>
                <a:spcPts val="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CRM cases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Case volume, owner, response SLA, theme, closure reason</a:t>
            </a:r>
          </a:p>
        </p:txBody>
      </p:sp>
      <p:sp>
        <p:nvSpPr>
          <p:cNvPr id="22" name="Survey platform accent"/>
          <p:cNvSpPr/>
          <p:nvPr/>
        </p:nvSpPr>
        <p:spPr>
          <a:xfrm>
            <a:off x="4297680" y="1828800"/>
            <a:ext cx="73152" cy="713232"/>
          </a:xfrm>
          <a:prstGeom prst="rect">
            <a:avLst/>
          </a:prstGeom>
          <a:solidFill>
            <a:srgbClr val="25805A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Survey platform"/>
          <p:cNvSpPr txBox="1"/>
          <p:nvPr/>
        </p:nvSpPr>
        <p:spPr>
          <a:xfrm>
            <a:off x="4370832" y="1828800"/>
            <a:ext cx="308152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anchor="t" lIns="76200" tIns="76200" rIns="76200" bIns="76200"/>
          <a:lstStyle/>
          <a:p>
            <a:pPr algn="l" marL="0" indent="0">
              <a:spcBef>
                <a:spcPts val="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Survey platform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Satisfaction, sentiment, journey stage, open text</a:t>
            </a:r>
          </a:p>
        </p:txBody>
      </p:sp>
      <p:sp>
        <p:nvSpPr>
          <p:cNvPr id="24" name="Digital touchpoints accent"/>
          <p:cNvSpPr/>
          <p:nvPr/>
        </p:nvSpPr>
        <p:spPr>
          <a:xfrm>
            <a:off x="7909560" y="1828800"/>
            <a:ext cx="73152" cy="713232"/>
          </a:xfrm>
          <a:prstGeom prst="rect">
            <a:avLst/>
          </a:prstGeom>
          <a:solidFill>
            <a:srgbClr val="25805A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Digital touchpoints"/>
          <p:cNvSpPr txBox="1"/>
          <p:nvPr/>
        </p:nvSpPr>
        <p:spPr>
          <a:xfrm>
            <a:off x="7982712" y="1828800"/>
            <a:ext cx="308152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anchor="t" lIns="76200" tIns="76200" rIns="76200" bIns="76200"/>
          <a:lstStyle/>
          <a:p>
            <a:pPr algn="l" marL="0" indent="0">
              <a:spcBef>
                <a:spcPts val="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Digital touchpoints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Search intent, page path, drop-off, language need</a:t>
            </a:r>
          </a:p>
        </p:txBody>
      </p:sp>
      <p:sp>
        <p:nvSpPr>
          <p:cNvPr id="26" name="Accessibility workflow accent"/>
          <p:cNvSpPr/>
          <p:nvPr/>
        </p:nvSpPr>
        <p:spPr>
          <a:xfrm>
            <a:off x="685800" y="2743200"/>
            <a:ext cx="73152" cy="713232"/>
          </a:xfrm>
          <a:prstGeom prst="rect">
            <a:avLst/>
          </a:prstGeom>
          <a:solidFill>
            <a:srgbClr val="25805A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Accessibility workflow"/>
          <p:cNvSpPr txBox="1"/>
          <p:nvPr/>
        </p:nvSpPr>
        <p:spPr>
          <a:xfrm>
            <a:off x="758952" y="2743200"/>
            <a:ext cx="308152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anchor="t" lIns="76200" tIns="76200" rIns="76200" bIns="76200"/>
          <a:lstStyle/>
          <a:p>
            <a:pPr algn="l" marL="0" indent="0">
              <a:spcBef>
                <a:spcPts val="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Accessibility workflow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Restricted request category, program, resolution</a:t>
            </a:r>
          </a:p>
        </p:txBody>
      </p:sp>
      <p:sp>
        <p:nvSpPr>
          <p:cNvPr id="28" name="Operations context accent"/>
          <p:cNvSpPr/>
          <p:nvPr/>
        </p:nvSpPr>
        <p:spPr>
          <a:xfrm>
            <a:off x="4297680" y="2743200"/>
            <a:ext cx="73152" cy="713232"/>
          </a:xfrm>
          <a:prstGeom prst="rect">
            <a:avLst/>
          </a:prstGeom>
          <a:solidFill>
            <a:srgbClr val="25805A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Operations context"/>
          <p:cNvSpPr txBox="1"/>
          <p:nvPr/>
        </p:nvSpPr>
        <p:spPr>
          <a:xfrm>
            <a:off x="4370832" y="2743200"/>
            <a:ext cx="308152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anchor="t" lIns="76200" tIns="76200" rIns="76200" bIns="76200"/>
          <a:lstStyle/>
          <a:p>
            <a:pPr algn="l" marL="0" indent="0">
              <a:spcBef>
                <a:spcPts val="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Operations context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Delay, terminal zone, facility event, recovery action</a:t>
            </a:r>
          </a:p>
        </p:txBody>
      </p:sp>
      <p:sp>
        <p:nvSpPr>
          <p:cNvPr id="30" name="PNE relationships accent"/>
          <p:cNvSpPr/>
          <p:nvPr/>
        </p:nvSpPr>
        <p:spPr>
          <a:xfrm>
            <a:off x="7909560" y="2743200"/>
            <a:ext cx="73152" cy="713232"/>
          </a:xfrm>
          <a:prstGeom prst="rect">
            <a:avLst/>
          </a:prstGeom>
          <a:solidFill>
            <a:srgbClr val="25805A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PNE relationships"/>
          <p:cNvSpPr txBox="1"/>
          <p:nvPr/>
        </p:nvSpPr>
        <p:spPr>
          <a:xfrm>
            <a:off x="7982712" y="2743200"/>
            <a:ext cx="308152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anchor="t" lIns="76200" tIns="76200" rIns="76200" bIns="76200"/>
          <a:lstStyle/>
          <a:p>
            <a:pPr algn="l" marL="0" indent="0">
              <a:spcBef>
                <a:spcPts val="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PNE relationships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Contact type, facility, owner, follow-up status</a:t>
            </a:r>
          </a:p>
        </p:txBody>
      </p:sp>
      <p:sp>
        <p:nvSpPr>
          <p:cNvPr id="32" name="platform"/>
          <p:cNvSpPr txBox="1"/>
          <p:nvPr/>
        </p:nvSpPr>
        <p:spPr>
          <a:xfrm>
            <a:off x="1143000" y="4005072"/>
            <a:ext cx="9921240" cy="603504"/>
          </a:xfrm>
          <a:prstGeom prst="rect">
            <a:avLst/>
          </a:prstGeom>
          <a:solidFill>
            <a:srgbClr val="0F4D90"/>
          </a:solidFill>
          <a:ln>
            <a:noFill/>
          </a:ln>
        </p:spPr>
        <p:txBody>
          <a:bodyPr wrap="square" anchor="t" lIns="76200" tIns="76200" rIns="76200" bIns="76200"/>
          <a:lstStyle/>
          <a:p>
            <a:pPr algn="l" marL="0" indent="0">
              <a:spcBef>
                <a:spcPts val="0"/>
              </a:spcBef>
            </a:pPr>
            <a:r>
              <a:rPr lang="en-US"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Enterprise reporting layer: source owner + cadence + field dictionary + quality gate + privacy treatment + reconciliation rule + escalation path.</a:t>
            </a:r>
          </a:p>
        </p:txBody>
      </p:sp>
      <p:sp>
        <p:nvSpPr>
          <p:cNvPr id="33" name="ml"/>
          <p:cNvSpPr txBox="1"/>
          <p:nvPr/>
        </p:nvSpPr>
        <p:spPr>
          <a:xfrm>
            <a:off x="1143000" y="4736592"/>
            <a:ext cx="9921240" cy="530352"/>
          </a:xfrm>
          <a:prstGeom prst="rect">
            <a:avLst/>
          </a:prstGeom>
          <a:solidFill>
            <a:srgbClr val="E8F5EE"/>
          </a:solidFill>
          <a:ln w="12700">
            <a:solidFill>
              <a:srgbClr val="D9E2EC"/>
            </a:solidFill>
          </a:ln>
        </p:spPr>
        <p:txBody>
          <a:bodyPr wrap="square" anchor="t" lIns="76200" tIns="76200" rIns="76200" bIns="76200"/>
          <a:lstStyle/>
          <a:p>
            <a:pPr algn="l" marL="0" indent="0">
              <a:spcBef>
                <a:spcPts val="0"/>
              </a:spcBef>
            </a:pPr>
            <a:r>
              <a:rPr lang="en-US" sz="1250">
                <a:solidFill>
                  <a:srgbClr val="172536"/>
                </a:solidFill>
                <a:latin typeface="Arial"/>
                <a:ea typeface="Arial"/>
                <a:cs typeface="Arial"/>
              </a:rPr>
              <a:t>Upload/update workflow: team template -&gt; metadata capture -&gt; source-quality score -&gt; illustrative readiness prediction -&gt; dashboard refresh -&gt; executive action record.</a:t>
            </a:r>
          </a:p>
        </p:txBody>
      </p:sp>
      <p:sp>
        <p:nvSpPr>
          <p:cNvPr id="800" name="footer"/>
          <p:cNvSpPr txBox="1"/>
          <p:nvPr/>
        </p:nvSpPr>
        <p:spPr>
          <a:xfrm>
            <a:off x="585216" y="6473952"/>
            <a:ext cx="813816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850">
                <a:solidFill>
                  <a:srgbClr val="5C6F82"/>
                </a:solidFill>
                <a:latin typeface="Arial"/>
                <a:ea typeface="Arial"/>
                <a:cs typeface="Arial"/>
              </a:rPr>
              <a:t>Public-source prototype. CRM, survey, accessibility, passenger, and PNE relationship records require approved internal systems and governance controls.</a:t>
            </a:r>
          </a:p>
        </p:txBody>
      </p:sp>
      <p:sp>
        <p:nvSpPr>
          <p:cNvPr id="801" name="slide-number"/>
          <p:cNvSpPr txBox="1"/>
          <p:nvPr/>
        </p:nvSpPr>
        <p:spPr>
          <a:xfrm>
            <a:off x="10835640" y="647395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 marL="0" indent="0">
              <a:spcBef>
                <a:spcPts val="0"/>
              </a:spcBef>
            </a:pPr>
            <a:r>
              <a:rPr lang="en-US" sz="900" b="1">
                <a:solidFill>
                  <a:srgbClr val="5C6F82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service-bar"/>
          <p:cNvSpPr/>
          <p:nvPr/>
        </p:nvSpPr>
        <p:spPr>
          <a:xfrm>
            <a:off x="0" y="0"/>
            <a:ext cx="12191695" cy="420624"/>
          </a:xfrm>
          <a:prstGeom prst="rect">
            <a:avLst/>
          </a:prstGeom>
          <a:solidFill>
            <a:srgbClr val="0F3B63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gold-bar"/>
          <p:cNvSpPr/>
          <p:nvPr/>
        </p:nvSpPr>
        <p:spPr>
          <a:xfrm>
            <a:off x="0" y="0"/>
            <a:ext cx="109728" cy="420624"/>
          </a:xfrm>
          <a:prstGeom prst="rect">
            <a:avLst/>
          </a:prstGeom>
          <a:solidFill>
            <a:srgbClr val="F3C613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agency"/>
          <p:cNvSpPr txBox="1"/>
          <p:nvPr/>
        </p:nvSpPr>
        <p:spPr>
          <a:xfrm>
            <a:off x="256032" y="73152"/>
            <a:ext cx="530352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City of Philadelphia / Department of Aviation</a:t>
            </a:r>
          </a:p>
        </p:txBody>
      </p:sp>
      <p:sp>
        <p:nvSpPr>
          <p:cNvPr id="5" name="eyebrow"/>
          <p:cNvSpPr txBox="1"/>
          <p:nvPr/>
        </p:nvSpPr>
        <p:spPr>
          <a:xfrm>
            <a:off x="8229600" y="73152"/>
            <a:ext cx="356616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 marL="0" indent="0">
              <a:spcBef>
                <a:spcPts val="0"/>
              </a:spcBef>
            </a:pPr>
            <a:r>
              <a:rPr lang="en-US" sz="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GOVERNANCE AND PRIVACY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566928" y="713232"/>
            <a:ext cx="10881360" cy="43891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2650" b="1">
                <a:solidFill>
                  <a:srgbClr val="0F3B63"/>
                </a:solidFill>
                <a:latin typeface="Arial"/>
                <a:ea typeface="Arial"/>
                <a:cs typeface="Arial"/>
              </a:rPr>
              <a:t>Trust The Data Before Scaling The Insight</a:t>
            </a:r>
          </a:p>
        </p:txBody>
      </p:sp>
      <p:sp>
        <p:nvSpPr>
          <p:cNvPr id="7" name="subtitle"/>
          <p:cNvSpPr txBox="1"/>
          <p:nvPr/>
        </p:nvSpPr>
        <p:spPr>
          <a:xfrm>
            <a:off x="585216" y="1152144"/>
            <a:ext cx="105613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1250">
                <a:solidFill>
                  <a:srgbClr val="5C6F82"/>
                </a:solidFill>
                <a:latin typeface="Arial"/>
                <a:ea typeface="Arial"/>
                <a:cs typeface="Arial"/>
              </a:rPr>
              <a:t>Source-quality scoring keeps executive confidence, privacy, and accountability visible before CRM analytics becomes an automated operating rhythm.</a:t>
            </a:r>
          </a:p>
        </p:txBody>
      </p:sp>
      <p:sp>
        <p:nvSpPr>
          <p:cNvPr id="20" name="quality Public facts"/>
          <p:cNvSpPr/>
          <p:nvPr/>
        </p:nvSpPr>
        <p:spPr>
          <a:xfrm>
            <a:off x="713232" y="1847088"/>
            <a:ext cx="1975104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/>
          <a:lstStyle/>
          <a:p/>
        </p:txBody>
      </p:sp>
      <p:sp>
        <p:nvSpPr>
          <p:cNvPr id="21" name="quality label Public facts"/>
          <p:cNvSpPr txBox="1"/>
          <p:nvPr/>
        </p:nvSpPr>
        <p:spPr>
          <a:xfrm>
            <a:off x="850392" y="1975104"/>
            <a:ext cx="1700784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indent="0">
              <a:spcBef>
                <a:spcPts val="0"/>
              </a:spcBef>
            </a:pPr>
            <a:r>
              <a:rPr lang="en-US" sz="750" b="1">
                <a:solidFill>
                  <a:srgbClr val="5C6F82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22" name="score number Public facts"/>
          <p:cNvSpPr txBox="1"/>
          <p:nvPr/>
        </p:nvSpPr>
        <p:spPr>
          <a:xfrm>
            <a:off x="850392" y="2267712"/>
            <a:ext cx="1700784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indent="0">
              <a:spcBef>
                <a:spcPts val="0"/>
              </a:spcBef>
            </a:pPr>
            <a:r>
              <a:rPr lang="en-US" sz="1700" b="1">
                <a:solidFill>
                  <a:srgbClr val="25805A"/>
                </a:solidFill>
                <a:latin typeface="Arial"/>
                <a:ea typeface="Arial"/>
                <a:cs typeface="Arial"/>
              </a:rPr>
              <a:t>87/100</a:t>
            </a:r>
          </a:p>
        </p:txBody>
      </p:sp>
      <p:sp>
        <p:nvSpPr>
          <p:cNvPr id="23" name="q text Public facts"/>
          <p:cNvSpPr txBox="1"/>
          <p:nvPr/>
        </p:nvSpPr>
        <p:spPr>
          <a:xfrm>
            <a:off x="822960" y="2651760"/>
            <a:ext cx="1755648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indent="0">
              <a:spcBef>
                <a:spcPts val="0"/>
              </a:spcBef>
            </a:pPr>
            <a:r>
              <a:rPr lang="en-US" sz="850" b="1">
                <a:solidFill>
                  <a:srgbClr val="172536"/>
                </a:solidFill>
                <a:latin typeface="Arial"/>
                <a:ea typeface="Arial"/>
                <a:cs typeface="Arial"/>
              </a:rPr>
              <a:t>Public facts</a:t>
            </a:r>
          </a:p>
        </p:txBody>
      </p:sp>
      <p:sp>
        <p:nvSpPr>
          <p:cNvPr id="24" name="bar-bg"/>
          <p:cNvSpPr/>
          <p:nvPr/>
        </p:nvSpPr>
        <p:spPr>
          <a:xfrm>
            <a:off x="914400" y="2907792"/>
            <a:ext cx="1572768" cy="73152"/>
          </a:xfrm>
          <a:prstGeom prst="roundRect">
            <a:avLst/>
          </a:prstGeom>
          <a:solidFill>
            <a:srgbClr val="D9E2EC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bar-fill"/>
          <p:cNvSpPr/>
          <p:nvPr/>
        </p:nvSpPr>
        <p:spPr>
          <a:xfrm>
            <a:off x="914400" y="2907792"/>
            <a:ext cx="1368308" cy="73152"/>
          </a:xfrm>
          <a:prstGeom prst="roundRect">
            <a:avLst/>
          </a:prstGeom>
          <a:solidFill>
            <a:srgbClr val="25805A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quality CRM case system"/>
          <p:cNvSpPr/>
          <p:nvPr/>
        </p:nvSpPr>
        <p:spPr>
          <a:xfrm>
            <a:off x="2980944" y="1847088"/>
            <a:ext cx="1975104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/>
          <a:lstStyle/>
          <a:p/>
        </p:txBody>
      </p:sp>
      <p:sp>
        <p:nvSpPr>
          <p:cNvPr id="27" name="quality label CRM case system"/>
          <p:cNvSpPr txBox="1"/>
          <p:nvPr/>
        </p:nvSpPr>
        <p:spPr>
          <a:xfrm>
            <a:off x="3118103" y="1975104"/>
            <a:ext cx="1700784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indent="0">
              <a:spcBef>
                <a:spcPts val="0"/>
              </a:spcBef>
            </a:pPr>
            <a:r>
              <a:rPr lang="en-US" sz="750" b="1">
                <a:solidFill>
                  <a:srgbClr val="5C6F82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28" name="score number CRM case system"/>
          <p:cNvSpPr txBox="1"/>
          <p:nvPr/>
        </p:nvSpPr>
        <p:spPr>
          <a:xfrm>
            <a:off x="3118103" y="2267712"/>
            <a:ext cx="1700784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indent="0">
              <a:spcBef>
                <a:spcPts val="0"/>
              </a:spcBef>
            </a:pPr>
            <a:r>
              <a:rPr lang="en-US" sz="17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61/100</a:t>
            </a:r>
          </a:p>
        </p:txBody>
      </p:sp>
      <p:sp>
        <p:nvSpPr>
          <p:cNvPr id="29" name="q text CRM case system"/>
          <p:cNvSpPr txBox="1"/>
          <p:nvPr/>
        </p:nvSpPr>
        <p:spPr>
          <a:xfrm>
            <a:off x="3090672" y="2651760"/>
            <a:ext cx="1755648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indent="0">
              <a:spcBef>
                <a:spcPts val="0"/>
              </a:spcBef>
            </a:pPr>
            <a:r>
              <a:rPr lang="en-US" sz="850" b="1">
                <a:solidFill>
                  <a:srgbClr val="172536"/>
                </a:solidFill>
                <a:latin typeface="Arial"/>
                <a:ea typeface="Arial"/>
                <a:cs typeface="Arial"/>
              </a:rPr>
              <a:t>CRM case system</a:t>
            </a:r>
          </a:p>
        </p:txBody>
      </p:sp>
      <p:sp>
        <p:nvSpPr>
          <p:cNvPr id="30" name="bar-bg"/>
          <p:cNvSpPr/>
          <p:nvPr/>
        </p:nvSpPr>
        <p:spPr>
          <a:xfrm>
            <a:off x="3182112" y="2907792"/>
            <a:ext cx="1572768" cy="73152"/>
          </a:xfrm>
          <a:prstGeom prst="roundRect">
            <a:avLst/>
          </a:prstGeom>
          <a:solidFill>
            <a:srgbClr val="D9E2EC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bar-fill"/>
          <p:cNvSpPr/>
          <p:nvPr/>
        </p:nvSpPr>
        <p:spPr>
          <a:xfrm>
            <a:off x="3182112" y="2907792"/>
            <a:ext cx="959388" cy="73152"/>
          </a:xfrm>
          <a:prstGeom prst="roundRect">
            <a:avLst/>
          </a:prstGeom>
          <a:solidFill>
            <a:srgbClr val="B42318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quality Survey platform"/>
          <p:cNvSpPr/>
          <p:nvPr/>
        </p:nvSpPr>
        <p:spPr>
          <a:xfrm>
            <a:off x="5248656" y="1847088"/>
            <a:ext cx="1975104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/>
          <a:lstStyle/>
          <a:p/>
        </p:txBody>
      </p:sp>
      <p:sp>
        <p:nvSpPr>
          <p:cNvPr id="33" name="quality label Survey platform"/>
          <p:cNvSpPr txBox="1"/>
          <p:nvPr/>
        </p:nvSpPr>
        <p:spPr>
          <a:xfrm>
            <a:off x="5385816" y="1975104"/>
            <a:ext cx="1700784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indent="0">
              <a:spcBef>
                <a:spcPts val="0"/>
              </a:spcBef>
            </a:pPr>
            <a:r>
              <a:rPr lang="en-US" sz="750" b="1">
                <a:solidFill>
                  <a:srgbClr val="5C6F82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34" name="score number Survey platform"/>
          <p:cNvSpPr txBox="1"/>
          <p:nvPr/>
        </p:nvSpPr>
        <p:spPr>
          <a:xfrm>
            <a:off x="5385816" y="2267712"/>
            <a:ext cx="1700784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indent="0">
              <a:spcBef>
                <a:spcPts val="0"/>
              </a:spcBef>
            </a:pPr>
            <a:r>
              <a:rPr lang="en-US" sz="1700" b="1">
                <a:solidFill>
                  <a:srgbClr val="B76500"/>
                </a:solidFill>
                <a:latin typeface="Arial"/>
                <a:ea typeface="Arial"/>
                <a:cs typeface="Arial"/>
              </a:rPr>
              <a:t>70/100</a:t>
            </a:r>
          </a:p>
        </p:txBody>
      </p:sp>
      <p:sp>
        <p:nvSpPr>
          <p:cNvPr id="35" name="q text Survey platform"/>
          <p:cNvSpPr txBox="1"/>
          <p:nvPr/>
        </p:nvSpPr>
        <p:spPr>
          <a:xfrm>
            <a:off x="5358384" y="2651760"/>
            <a:ext cx="1755648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indent="0">
              <a:spcBef>
                <a:spcPts val="0"/>
              </a:spcBef>
            </a:pPr>
            <a:r>
              <a:rPr lang="en-US" sz="850" b="1">
                <a:solidFill>
                  <a:srgbClr val="172536"/>
                </a:solidFill>
                <a:latin typeface="Arial"/>
                <a:ea typeface="Arial"/>
                <a:cs typeface="Arial"/>
              </a:rPr>
              <a:t>Survey platform</a:t>
            </a:r>
          </a:p>
        </p:txBody>
      </p:sp>
      <p:sp>
        <p:nvSpPr>
          <p:cNvPr id="36" name="bar-bg"/>
          <p:cNvSpPr/>
          <p:nvPr/>
        </p:nvSpPr>
        <p:spPr>
          <a:xfrm>
            <a:off x="5449824" y="2907792"/>
            <a:ext cx="1572768" cy="73152"/>
          </a:xfrm>
          <a:prstGeom prst="roundRect">
            <a:avLst/>
          </a:prstGeom>
          <a:solidFill>
            <a:srgbClr val="D9E2EC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bar-fill"/>
          <p:cNvSpPr/>
          <p:nvPr/>
        </p:nvSpPr>
        <p:spPr>
          <a:xfrm>
            <a:off x="5449824" y="2907792"/>
            <a:ext cx="1100937" cy="73152"/>
          </a:xfrm>
          <a:prstGeom prst="roundRect">
            <a:avLst/>
          </a:prstGeom>
          <a:solidFill>
            <a:srgbClr val="B765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quality Accessibility workflow"/>
          <p:cNvSpPr/>
          <p:nvPr/>
        </p:nvSpPr>
        <p:spPr>
          <a:xfrm>
            <a:off x="7516367" y="1847088"/>
            <a:ext cx="1975104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/>
          <a:lstStyle/>
          <a:p/>
        </p:txBody>
      </p:sp>
      <p:sp>
        <p:nvSpPr>
          <p:cNvPr id="39" name="quality label Accessibility workflow"/>
          <p:cNvSpPr txBox="1"/>
          <p:nvPr/>
        </p:nvSpPr>
        <p:spPr>
          <a:xfrm>
            <a:off x="7653527" y="1975104"/>
            <a:ext cx="1700784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indent="0">
              <a:spcBef>
                <a:spcPts val="0"/>
              </a:spcBef>
            </a:pPr>
            <a:r>
              <a:rPr lang="en-US" sz="750" b="1">
                <a:solidFill>
                  <a:srgbClr val="5C6F82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40" name="score number Accessibility workflow"/>
          <p:cNvSpPr txBox="1"/>
          <p:nvPr/>
        </p:nvSpPr>
        <p:spPr>
          <a:xfrm>
            <a:off x="7653527" y="2267712"/>
            <a:ext cx="1700784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indent="0">
              <a:spcBef>
                <a:spcPts val="0"/>
              </a:spcBef>
            </a:pPr>
            <a:r>
              <a:rPr lang="en-US" sz="17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58/100</a:t>
            </a:r>
          </a:p>
        </p:txBody>
      </p:sp>
      <p:sp>
        <p:nvSpPr>
          <p:cNvPr id="41" name="q text Accessibility workflow"/>
          <p:cNvSpPr txBox="1"/>
          <p:nvPr/>
        </p:nvSpPr>
        <p:spPr>
          <a:xfrm>
            <a:off x="7626095" y="2651760"/>
            <a:ext cx="1755648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indent="0">
              <a:spcBef>
                <a:spcPts val="0"/>
              </a:spcBef>
            </a:pPr>
            <a:r>
              <a:rPr lang="en-US" sz="850" b="1">
                <a:solidFill>
                  <a:srgbClr val="172536"/>
                </a:solidFill>
                <a:latin typeface="Arial"/>
                <a:ea typeface="Arial"/>
                <a:cs typeface="Arial"/>
              </a:rPr>
              <a:t>Accessibility workflow</a:t>
            </a:r>
          </a:p>
        </p:txBody>
      </p:sp>
      <p:sp>
        <p:nvSpPr>
          <p:cNvPr id="42" name="bar-bg"/>
          <p:cNvSpPr/>
          <p:nvPr/>
        </p:nvSpPr>
        <p:spPr>
          <a:xfrm>
            <a:off x="7717536" y="2907792"/>
            <a:ext cx="1572768" cy="73152"/>
          </a:xfrm>
          <a:prstGeom prst="roundRect">
            <a:avLst/>
          </a:prstGeom>
          <a:solidFill>
            <a:srgbClr val="D9E2EC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bar-fill"/>
          <p:cNvSpPr/>
          <p:nvPr/>
        </p:nvSpPr>
        <p:spPr>
          <a:xfrm>
            <a:off x="7717536" y="2907792"/>
            <a:ext cx="912205" cy="73152"/>
          </a:xfrm>
          <a:prstGeom prst="roundRect">
            <a:avLst/>
          </a:prstGeom>
          <a:solidFill>
            <a:srgbClr val="B42318"/>
          </a:solidFill>
          <a:ln>
            <a:noFill/>
          </a:ln>
        </p:spPr>
        <p:txBody>
          <a:bodyPr/>
          <a:lstStyle/>
          <a:p/>
        </p:txBody>
      </p:sp>
      <p:sp>
        <p:nvSpPr>
          <p:cNvPr id="44" name="quality PNE register"/>
          <p:cNvSpPr/>
          <p:nvPr/>
        </p:nvSpPr>
        <p:spPr>
          <a:xfrm>
            <a:off x="9784080" y="1847088"/>
            <a:ext cx="1975104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/>
          <a:lstStyle/>
          <a:p/>
        </p:txBody>
      </p:sp>
      <p:sp>
        <p:nvSpPr>
          <p:cNvPr id="45" name="quality label PNE register"/>
          <p:cNvSpPr txBox="1"/>
          <p:nvPr/>
        </p:nvSpPr>
        <p:spPr>
          <a:xfrm>
            <a:off x="9921240" y="1975104"/>
            <a:ext cx="1700784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indent="0">
              <a:spcBef>
                <a:spcPts val="0"/>
              </a:spcBef>
            </a:pPr>
            <a:r>
              <a:rPr lang="en-US" sz="750" b="1">
                <a:solidFill>
                  <a:srgbClr val="5C6F82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46" name="score number PNE register"/>
          <p:cNvSpPr txBox="1"/>
          <p:nvPr/>
        </p:nvSpPr>
        <p:spPr>
          <a:xfrm>
            <a:off x="9921240" y="2267712"/>
            <a:ext cx="1700784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indent="0">
              <a:spcBef>
                <a:spcPts val="0"/>
              </a:spcBef>
            </a:pPr>
            <a:r>
              <a:rPr lang="en-US" sz="1700" b="1">
                <a:solidFill>
                  <a:srgbClr val="B42318"/>
                </a:solidFill>
                <a:latin typeface="Arial"/>
                <a:ea typeface="Arial"/>
                <a:cs typeface="Arial"/>
              </a:rPr>
              <a:t>53/100</a:t>
            </a:r>
          </a:p>
        </p:txBody>
      </p:sp>
      <p:sp>
        <p:nvSpPr>
          <p:cNvPr id="47" name="q text PNE register"/>
          <p:cNvSpPr txBox="1"/>
          <p:nvPr/>
        </p:nvSpPr>
        <p:spPr>
          <a:xfrm>
            <a:off x="9893807" y="2651760"/>
            <a:ext cx="1755648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" marL="0" indent="0">
              <a:spcBef>
                <a:spcPts val="0"/>
              </a:spcBef>
            </a:pPr>
            <a:r>
              <a:rPr lang="en-US" sz="850" b="1">
                <a:solidFill>
                  <a:srgbClr val="172536"/>
                </a:solidFill>
                <a:latin typeface="Arial"/>
                <a:ea typeface="Arial"/>
                <a:cs typeface="Arial"/>
              </a:rPr>
              <a:t>PNE register</a:t>
            </a:r>
          </a:p>
        </p:txBody>
      </p:sp>
      <p:sp>
        <p:nvSpPr>
          <p:cNvPr id="48" name="bar-bg"/>
          <p:cNvSpPr/>
          <p:nvPr/>
        </p:nvSpPr>
        <p:spPr>
          <a:xfrm>
            <a:off x="9985248" y="2907792"/>
            <a:ext cx="1572768" cy="73152"/>
          </a:xfrm>
          <a:prstGeom prst="roundRect">
            <a:avLst/>
          </a:prstGeom>
          <a:solidFill>
            <a:srgbClr val="D9E2EC"/>
          </a:solidFill>
          <a:ln>
            <a:noFill/>
          </a:ln>
        </p:spPr>
        <p:txBody>
          <a:bodyPr/>
          <a:lstStyle/>
          <a:p/>
        </p:txBody>
      </p:sp>
      <p:sp>
        <p:nvSpPr>
          <p:cNvPr id="49" name="bar-fill"/>
          <p:cNvSpPr/>
          <p:nvPr/>
        </p:nvSpPr>
        <p:spPr>
          <a:xfrm>
            <a:off x="9985248" y="2907792"/>
            <a:ext cx="833567" cy="73152"/>
          </a:xfrm>
          <a:prstGeom prst="roundRect">
            <a:avLst/>
          </a:prstGeom>
          <a:solidFill>
            <a:srgbClr val="B42318"/>
          </a:solidFill>
          <a:ln>
            <a:noFill/>
          </a:ln>
        </p:spPr>
        <p:txBody>
          <a:bodyPr/>
          <a:lstStyle/>
          <a:p/>
        </p:txBody>
      </p:sp>
      <p:sp>
        <p:nvSpPr>
          <p:cNvPr id="50" name="Public Source bg"/>
          <p:cNvSpPr/>
          <p:nvPr/>
        </p:nvSpPr>
        <p:spPr>
          <a:xfrm>
            <a:off x="658368" y="3977639"/>
            <a:ext cx="33375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/>
          <a:lstStyle/>
          <a:p/>
        </p:txBody>
      </p:sp>
      <p:sp>
        <p:nvSpPr>
          <p:cNvPr id="51" name="Public Source top"/>
          <p:cNvSpPr/>
          <p:nvPr/>
        </p:nvSpPr>
        <p:spPr>
          <a:xfrm>
            <a:off x="658368" y="3977639"/>
            <a:ext cx="3337560" cy="73152"/>
          </a:xfrm>
          <a:prstGeom prst="rect">
            <a:avLst/>
          </a:prstGeom>
          <a:solidFill>
            <a:srgbClr val="0F4D90"/>
          </a:solidFill>
          <a:ln>
            <a:noFill/>
          </a:ln>
        </p:spPr>
        <p:txBody>
          <a:bodyPr/>
          <a:lstStyle/>
          <a:p/>
        </p:txBody>
      </p:sp>
      <p:sp>
        <p:nvSpPr>
          <p:cNvPr id="52" name="Public Source text"/>
          <p:cNvSpPr txBox="1"/>
          <p:nvPr/>
        </p:nvSpPr>
        <p:spPr>
          <a:xfrm>
            <a:off x="704088" y="4014215"/>
            <a:ext cx="3246120" cy="932688"/>
          </a:xfrm>
          <a:prstGeom prst="rect">
            <a:avLst/>
          </a:prstGeom>
          <a:noFill/>
          <a:ln>
            <a:noFill/>
          </a:ln>
        </p:spPr>
        <p:txBody>
          <a:bodyPr wrap="square" anchor="t" lIns="60960" tIns="60960" rIns="60960" bIns="60960"/>
          <a:lstStyle/>
          <a:p>
            <a:pPr algn="l" marL="0" indent="0">
              <a:spcBef>
                <a:spcPts val="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PROVENANCE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Public Source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Directly available source content used as a citation anchor.</a:t>
            </a:r>
          </a:p>
        </p:txBody>
      </p:sp>
      <p:sp>
        <p:nvSpPr>
          <p:cNvPr id="53" name="Derived From Public bg"/>
          <p:cNvSpPr/>
          <p:nvPr/>
        </p:nvSpPr>
        <p:spPr>
          <a:xfrm>
            <a:off x="4361688" y="3977639"/>
            <a:ext cx="33375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/>
          <a:lstStyle/>
          <a:p/>
        </p:txBody>
      </p:sp>
      <p:sp>
        <p:nvSpPr>
          <p:cNvPr id="54" name="Derived From Public top"/>
          <p:cNvSpPr/>
          <p:nvPr/>
        </p:nvSpPr>
        <p:spPr>
          <a:xfrm>
            <a:off x="4361688" y="3977639"/>
            <a:ext cx="3337560" cy="73152"/>
          </a:xfrm>
          <a:prstGeom prst="rect">
            <a:avLst/>
          </a:prstGeom>
          <a:solidFill>
            <a:srgbClr val="25805A"/>
          </a:solidFill>
          <a:ln>
            <a:noFill/>
          </a:ln>
        </p:spPr>
        <p:txBody>
          <a:bodyPr/>
          <a:lstStyle/>
          <a:p/>
        </p:txBody>
      </p:sp>
      <p:sp>
        <p:nvSpPr>
          <p:cNvPr id="55" name="Derived From Public text"/>
          <p:cNvSpPr txBox="1"/>
          <p:nvPr/>
        </p:nvSpPr>
        <p:spPr>
          <a:xfrm>
            <a:off x="4407407" y="4014215"/>
            <a:ext cx="3246120" cy="932688"/>
          </a:xfrm>
          <a:prstGeom prst="rect">
            <a:avLst/>
          </a:prstGeom>
          <a:noFill/>
          <a:ln>
            <a:noFill/>
          </a:ln>
        </p:spPr>
        <p:txBody>
          <a:bodyPr wrap="square" anchor="t" lIns="60960" tIns="60960" rIns="60960" bIns="60960"/>
          <a:lstStyle/>
          <a:p>
            <a:pPr algn="l" marL="0" indent="0">
              <a:spcBef>
                <a:spcPts val="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PROVENANCE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Derived From Public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Analytical inference from public facts, kept separate from official claims.</a:t>
            </a:r>
          </a:p>
        </p:txBody>
      </p:sp>
      <p:sp>
        <p:nvSpPr>
          <p:cNvPr id="56" name="Illustrative Model bg"/>
          <p:cNvSpPr/>
          <p:nvPr/>
        </p:nvSpPr>
        <p:spPr>
          <a:xfrm>
            <a:off x="8065008" y="3977639"/>
            <a:ext cx="33375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/>
          <a:lstStyle/>
          <a:p/>
        </p:txBody>
      </p:sp>
      <p:sp>
        <p:nvSpPr>
          <p:cNvPr id="57" name="Illustrative Model top"/>
          <p:cNvSpPr/>
          <p:nvPr/>
        </p:nvSpPr>
        <p:spPr>
          <a:xfrm>
            <a:off x="8065008" y="3977639"/>
            <a:ext cx="3337560" cy="73152"/>
          </a:xfrm>
          <a:prstGeom prst="rect">
            <a:avLst/>
          </a:prstGeom>
          <a:solidFill>
            <a:srgbClr val="B76500"/>
          </a:solidFill>
          <a:ln>
            <a:noFill/>
          </a:ln>
        </p:spPr>
        <p:txBody>
          <a:bodyPr/>
          <a:lstStyle/>
          <a:p/>
        </p:txBody>
      </p:sp>
      <p:sp>
        <p:nvSpPr>
          <p:cNvPr id="58" name="Illustrative Model text"/>
          <p:cNvSpPr txBox="1"/>
          <p:nvPr/>
        </p:nvSpPr>
        <p:spPr>
          <a:xfrm>
            <a:off x="8110728" y="4014215"/>
            <a:ext cx="3246120" cy="932688"/>
          </a:xfrm>
          <a:prstGeom prst="rect">
            <a:avLst/>
          </a:prstGeom>
          <a:noFill/>
          <a:ln>
            <a:noFill/>
          </a:ln>
        </p:spPr>
        <p:txBody>
          <a:bodyPr wrap="square" anchor="t" lIns="60960" tIns="60960" rIns="60960" bIns="60960"/>
          <a:lstStyle/>
          <a:p>
            <a:pPr algn="l" marL="0" indent="0">
              <a:spcBef>
                <a:spcPts val="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PROVENANCE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Illustrative Model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Mock internal CRM, survey, SLA, privacy, and feed-readiness data until approved systems are connected.</a:t>
            </a:r>
          </a:p>
        </p:txBody>
      </p:sp>
      <p:sp>
        <p:nvSpPr>
          <p:cNvPr id="59" name="privacy-rule"/>
          <p:cNvSpPr txBox="1"/>
          <p:nvPr/>
        </p:nvSpPr>
        <p:spPr>
          <a:xfrm>
            <a:off x="658368" y="5285232"/>
            <a:ext cx="10716768" cy="329184"/>
          </a:xfrm>
          <a:prstGeom prst="rect">
            <a:avLst/>
          </a:prstGeom>
          <a:solidFill>
            <a:srgbClr val="FDECEC"/>
          </a:solidFill>
          <a:ln w="12700">
            <a:solidFill>
              <a:srgbClr val="D9E2EC"/>
            </a:solidFill>
          </a:ln>
        </p:spPr>
        <p:txBody>
          <a:bodyPr wrap="square" anchor="t" lIns="76200" tIns="76200" rIns="76200" bIns="76200"/>
          <a:lstStyle/>
          <a:p>
            <a:pPr algn="l" marL="0" indent="0">
              <a:spcBef>
                <a:spcPts val="0"/>
              </a:spcBef>
            </a:pPr>
            <a:r>
              <a:rPr lang="en-US" sz="1050">
                <a:solidFill>
                  <a:srgbClr val="172536"/>
                </a:solidFill>
                <a:latin typeface="Arial"/>
                <a:ea typeface="Arial"/>
                <a:cs typeface="Arial"/>
              </a:rPr>
              <a:t>Privacy rule: PII, accessibility detail, and sensitive case notes stay out of executive reporting unless minimum-necessary fields, access roles, retention, and audit trails are approved.</a:t>
            </a:r>
          </a:p>
        </p:txBody>
      </p:sp>
      <p:sp>
        <p:nvSpPr>
          <p:cNvPr id="800" name="footer"/>
          <p:cNvSpPr txBox="1"/>
          <p:nvPr/>
        </p:nvSpPr>
        <p:spPr>
          <a:xfrm>
            <a:off x="585216" y="6473952"/>
            <a:ext cx="813816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850">
                <a:solidFill>
                  <a:srgbClr val="5C6F82"/>
                </a:solidFill>
                <a:latin typeface="Arial"/>
                <a:ea typeface="Arial"/>
                <a:cs typeface="Arial"/>
              </a:rPr>
              <a:t>Public-source prototype. CRM, survey, accessibility, passenger, and PNE relationship records require approved internal systems and governance controls.</a:t>
            </a:r>
          </a:p>
        </p:txBody>
      </p:sp>
      <p:sp>
        <p:nvSpPr>
          <p:cNvPr id="801" name="slide-number"/>
          <p:cNvSpPr txBox="1"/>
          <p:nvPr/>
        </p:nvSpPr>
        <p:spPr>
          <a:xfrm>
            <a:off x="10835640" y="647395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 marL="0" indent="0">
              <a:spcBef>
                <a:spcPts val="0"/>
              </a:spcBef>
            </a:pPr>
            <a:r>
              <a:rPr lang="en-US" sz="900" b="1">
                <a:solidFill>
                  <a:srgbClr val="5C6F82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service-bar"/>
          <p:cNvSpPr/>
          <p:nvPr/>
        </p:nvSpPr>
        <p:spPr>
          <a:xfrm>
            <a:off x="0" y="0"/>
            <a:ext cx="12191695" cy="420624"/>
          </a:xfrm>
          <a:prstGeom prst="rect">
            <a:avLst/>
          </a:prstGeom>
          <a:solidFill>
            <a:srgbClr val="0F3B63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gold-bar"/>
          <p:cNvSpPr/>
          <p:nvPr/>
        </p:nvSpPr>
        <p:spPr>
          <a:xfrm>
            <a:off x="0" y="0"/>
            <a:ext cx="109728" cy="420624"/>
          </a:xfrm>
          <a:prstGeom prst="rect">
            <a:avLst/>
          </a:prstGeom>
          <a:solidFill>
            <a:srgbClr val="F3C613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agency"/>
          <p:cNvSpPr txBox="1"/>
          <p:nvPr/>
        </p:nvSpPr>
        <p:spPr>
          <a:xfrm>
            <a:off x="256032" y="73152"/>
            <a:ext cx="530352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City of Philadelphia / Department of Aviation</a:t>
            </a:r>
          </a:p>
        </p:txBody>
      </p:sp>
      <p:sp>
        <p:nvSpPr>
          <p:cNvPr id="5" name="eyebrow"/>
          <p:cNvSpPr txBox="1"/>
          <p:nvPr/>
        </p:nvSpPr>
        <p:spPr>
          <a:xfrm>
            <a:off x="8229600" y="73152"/>
            <a:ext cx="356616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 marL="0" indent="0">
              <a:spcBef>
                <a:spcPts val="0"/>
              </a:spcBef>
            </a:pPr>
            <a:r>
              <a:rPr lang="en-US" sz="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LEADERSHIP LENSES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566928" y="713232"/>
            <a:ext cx="10881360" cy="43891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2650" b="1">
                <a:solidFill>
                  <a:srgbClr val="0F3B63"/>
                </a:solidFill>
                <a:latin typeface="Arial"/>
                <a:ea typeface="Arial"/>
                <a:cs typeface="Arial"/>
              </a:rPr>
              <a:t>Same Governance Backbone, Different Airport Questions</a:t>
            </a:r>
          </a:p>
        </p:txBody>
      </p:sp>
      <p:sp>
        <p:nvSpPr>
          <p:cNvPr id="7" name="subtitle"/>
          <p:cNvSpPr txBox="1"/>
          <p:nvPr/>
        </p:nvSpPr>
        <p:spPr>
          <a:xfrm>
            <a:off x="585216" y="1152144"/>
            <a:ext cx="105613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1250">
                <a:solidFill>
                  <a:srgbClr val="5C6F82"/>
                </a:solidFill>
                <a:latin typeface="Arial"/>
                <a:ea typeface="Arial"/>
                <a:cs typeface="Arial"/>
              </a:rPr>
              <a:t>PHL needs passenger journey scale; PNE needs relationship management. A credible CRM program supports both without flattening their operating realities.</a:t>
            </a:r>
          </a:p>
        </p:txBody>
      </p:sp>
      <p:sp>
        <p:nvSpPr>
          <p:cNvPr id="20" name="phl-head"/>
          <p:cNvSpPr txBox="1"/>
          <p:nvPr/>
        </p:nvSpPr>
        <p:spPr>
          <a:xfrm>
            <a:off x="658368" y="1783080"/>
            <a:ext cx="5257800" cy="347472"/>
          </a:xfrm>
          <a:prstGeom prst="rect">
            <a:avLst/>
          </a:prstGeom>
          <a:solidFill>
            <a:srgbClr val="0F4D90"/>
          </a:solidFill>
          <a:ln>
            <a:noFill/>
          </a:ln>
        </p:spPr>
        <p:txBody>
          <a:bodyPr wrap="square" anchor="t" lIns="76200" tIns="76200" rIns="76200" bIns="76200"/>
          <a:lstStyle/>
          <a:p>
            <a:pPr algn="l" marL="0" indent="0">
              <a:spcBef>
                <a:spcPts val="0"/>
              </a:spcBef>
            </a:pPr>
            <a:r>
              <a:rPr lang="en-US"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PHL leadership lens</a:t>
            </a:r>
          </a:p>
        </p:txBody>
      </p:sp>
      <p:sp>
        <p:nvSpPr>
          <p:cNvPr id="21" name="pne-head"/>
          <p:cNvSpPr txBox="1"/>
          <p:nvPr/>
        </p:nvSpPr>
        <p:spPr>
          <a:xfrm>
            <a:off x="6272784" y="1783080"/>
            <a:ext cx="5257800" cy="347472"/>
          </a:xfrm>
          <a:prstGeom prst="rect">
            <a:avLst/>
          </a:prstGeom>
          <a:solidFill>
            <a:srgbClr val="25805A"/>
          </a:solidFill>
          <a:ln>
            <a:noFill/>
          </a:ln>
        </p:spPr>
        <p:txBody>
          <a:bodyPr wrap="square" anchor="t" lIns="76200" tIns="76200" rIns="76200" bIns="76200"/>
          <a:lstStyle/>
          <a:p>
            <a:pPr algn="l" marL="0" indent="0">
              <a:spcBef>
                <a:spcPts val="0"/>
              </a:spcBef>
            </a:pPr>
            <a:r>
              <a:rPr lang="en-US"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PNE leadership lens</a:t>
            </a:r>
          </a:p>
        </p:txBody>
      </p:sp>
      <p:sp>
        <p:nvSpPr>
          <p:cNvPr id="22" name="phl 0"/>
          <p:cNvSpPr txBox="1"/>
          <p:nvPr/>
        </p:nvSpPr>
        <p:spPr>
          <a:xfrm>
            <a:off x="749808" y="2331720"/>
            <a:ext cx="49194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anchor="t" lIns="60960" tIns="60960" rIns="60960" bIns="60960"/>
          <a:lstStyle/>
          <a:p>
            <a:pPr algn="l" marL="0" indent="0">
              <a:spcBef>
                <a:spcPts val="0"/>
              </a:spcBef>
            </a:pPr>
            <a:r>
              <a:rPr lang="en-US" sz="1050">
                <a:solidFill>
                  <a:srgbClr val="172536"/>
                </a:solidFill>
                <a:latin typeface="Arial"/>
                <a:ea typeface="Arial"/>
                <a:cs typeface="Arial"/>
              </a:rPr>
              <a:t>- Passenger-scale journey analytics across parking, terminal, gates, digital, accessibility, and recovery touchpoints.</a:t>
            </a:r>
          </a:p>
        </p:txBody>
      </p:sp>
      <p:sp>
        <p:nvSpPr>
          <p:cNvPr id="23" name="phl 1"/>
          <p:cNvSpPr txBox="1"/>
          <p:nvPr/>
        </p:nvSpPr>
        <p:spPr>
          <a:xfrm>
            <a:off x="749808" y="3008376"/>
            <a:ext cx="49194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anchor="t" lIns="60960" tIns="60960" rIns="60960" bIns="60960"/>
          <a:lstStyle/>
          <a:p>
            <a:pPr algn="l" marL="0" indent="0">
              <a:spcBef>
                <a:spcPts val="0"/>
              </a:spcBef>
            </a:pPr>
            <a:r>
              <a:rPr lang="en-US" sz="1050">
                <a:solidFill>
                  <a:srgbClr val="172536"/>
                </a:solidFill>
                <a:latin typeface="Arial"/>
                <a:ea typeface="Arial"/>
                <a:cs typeface="Arial"/>
              </a:rPr>
              <a:t>- Service themes ranked by journey stage, owner, sentiment, case volume, and expected outcome.</a:t>
            </a:r>
          </a:p>
        </p:txBody>
      </p:sp>
      <p:sp>
        <p:nvSpPr>
          <p:cNvPr id="24" name="phl 2"/>
          <p:cNvSpPr txBox="1"/>
          <p:nvPr/>
        </p:nvSpPr>
        <p:spPr>
          <a:xfrm>
            <a:off x="749808" y="3685031"/>
            <a:ext cx="49194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anchor="t" lIns="60960" tIns="60960" rIns="60960" bIns="60960"/>
          <a:lstStyle/>
          <a:p>
            <a:pPr algn="l" marL="0" indent="0">
              <a:spcBef>
                <a:spcPts val="0"/>
              </a:spcBef>
            </a:pPr>
            <a:r>
              <a:rPr lang="en-US" sz="1050">
                <a:solidFill>
                  <a:srgbClr val="172536"/>
                </a:solidFill>
                <a:latin typeface="Arial"/>
                <a:ea typeface="Arial"/>
                <a:cs typeface="Arial"/>
              </a:rPr>
              <a:t>- Forecast spikes from passenger activity, disruption context, searches, and complaint history.</a:t>
            </a:r>
          </a:p>
        </p:txBody>
      </p:sp>
      <p:sp>
        <p:nvSpPr>
          <p:cNvPr id="25" name="phl 3"/>
          <p:cNvSpPr txBox="1"/>
          <p:nvPr/>
        </p:nvSpPr>
        <p:spPr>
          <a:xfrm>
            <a:off x="749808" y="4361688"/>
            <a:ext cx="49194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anchor="t" lIns="60960" tIns="60960" rIns="60960" bIns="60960"/>
          <a:lstStyle/>
          <a:p>
            <a:pPr algn="l" marL="0" indent="0">
              <a:spcBef>
                <a:spcPts val="0"/>
              </a:spcBef>
            </a:pPr>
            <a:r>
              <a:rPr lang="en-US" sz="1050">
                <a:solidFill>
                  <a:srgbClr val="172536"/>
                </a:solidFill>
                <a:latin typeface="Arial"/>
                <a:ea typeface="Arial"/>
                <a:cs typeface="Arial"/>
              </a:rPr>
              <a:t>- Privacy-aware accessibility lane for high-sensitivity trends and restricted details.</a:t>
            </a:r>
          </a:p>
        </p:txBody>
      </p:sp>
      <p:sp>
        <p:nvSpPr>
          <p:cNvPr id="26" name="pne 0"/>
          <p:cNvSpPr txBox="1"/>
          <p:nvPr/>
        </p:nvSpPr>
        <p:spPr>
          <a:xfrm>
            <a:off x="6364224" y="2331720"/>
            <a:ext cx="49194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anchor="t" lIns="60960" tIns="60960" rIns="60960" bIns="60960"/>
          <a:lstStyle/>
          <a:p>
            <a:pPr algn="l" marL="0" indent="0">
              <a:spcBef>
                <a:spcPts val="0"/>
              </a:spcBef>
            </a:pPr>
            <a:r>
              <a:rPr lang="en-US" sz="1050">
                <a:solidFill>
                  <a:srgbClr val="172536"/>
                </a:solidFill>
                <a:latin typeface="Arial"/>
                <a:ea typeface="Arial"/>
                <a:cs typeface="Arial"/>
              </a:rPr>
              <a:t>- Reliever-airport CRM built around pilots, tenants, corporate aviation users, customs coordination, and facility requests.</a:t>
            </a:r>
          </a:p>
        </p:txBody>
      </p:sp>
      <p:sp>
        <p:nvSpPr>
          <p:cNvPr id="27" name="pne 1"/>
          <p:cNvSpPr txBox="1"/>
          <p:nvPr/>
        </p:nvSpPr>
        <p:spPr>
          <a:xfrm>
            <a:off x="6364224" y="3008376"/>
            <a:ext cx="49194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anchor="t" lIns="60960" tIns="60960" rIns="60960" bIns="60960"/>
          <a:lstStyle/>
          <a:p>
            <a:pPr algn="l" marL="0" indent="0">
              <a:spcBef>
                <a:spcPts val="0"/>
              </a:spcBef>
            </a:pPr>
            <a:r>
              <a:rPr lang="en-US" sz="1050">
                <a:solidFill>
                  <a:srgbClr val="172536"/>
                </a:solidFill>
                <a:latin typeface="Arial"/>
                <a:ea typeface="Arial"/>
                <a:cs typeface="Arial"/>
              </a:rPr>
              <a:t>- Relationship register tracks contact type, owner, facility, follow-up status, and satisfaction note.</a:t>
            </a:r>
          </a:p>
        </p:txBody>
      </p:sp>
      <p:sp>
        <p:nvSpPr>
          <p:cNvPr id="28" name="pne 2"/>
          <p:cNvSpPr txBox="1"/>
          <p:nvPr/>
        </p:nvSpPr>
        <p:spPr>
          <a:xfrm>
            <a:off x="6364224" y="3685031"/>
            <a:ext cx="49194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anchor="t" lIns="60960" tIns="60960" rIns="60960" bIns="60960"/>
          <a:lstStyle/>
          <a:p>
            <a:pPr algn="l" marL="0" indent="0">
              <a:spcBef>
                <a:spcPts val="0"/>
              </a:spcBef>
            </a:pPr>
            <a:r>
              <a:rPr lang="en-US" sz="1050">
                <a:solidFill>
                  <a:srgbClr val="172536"/>
                </a:solidFill>
                <a:latin typeface="Arial"/>
                <a:ea typeface="Arial"/>
                <a:cs typeface="Arial"/>
              </a:rPr>
              <a:t>- PNE public-fact reconciliation treated as governance signal before external claims.</a:t>
            </a:r>
          </a:p>
        </p:txBody>
      </p:sp>
      <p:sp>
        <p:nvSpPr>
          <p:cNvPr id="29" name="pne 3"/>
          <p:cNvSpPr txBox="1"/>
          <p:nvPr/>
        </p:nvSpPr>
        <p:spPr>
          <a:xfrm>
            <a:off x="6364224" y="4361688"/>
            <a:ext cx="49194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 wrap="square" anchor="t" lIns="60960" tIns="60960" rIns="60960" bIns="60960"/>
          <a:lstStyle/>
          <a:p>
            <a:pPr algn="l" marL="0" indent="0">
              <a:spcBef>
                <a:spcPts val="0"/>
              </a:spcBef>
            </a:pPr>
            <a:r>
              <a:rPr lang="en-US" sz="1050">
                <a:solidFill>
                  <a:srgbClr val="172536"/>
                </a:solidFill>
                <a:latin typeface="Arial"/>
                <a:ea typeface="Arial"/>
                <a:cs typeface="Arial"/>
              </a:rPr>
              <a:t>- Template-first approach avoids forcing PNE into a terminal passenger model.</a:t>
            </a:r>
          </a:p>
        </p:txBody>
      </p:sp>
      <p:sp>
        <p:nvSpPr>
          <p:cNvPr id="30" name="shared"/>
          <p:cNvSpPr txBox="1"/>
          <p:nvPr/>
        </p:nvSpPr>
        <p:spPr>
          <a:xfrm>
            <a:off x="658368" y="5230368"/>
            <a:ext cx="10863072" cy="384048"/>
          </a:xfrm>
          <a:prstGeom prst="rect">
            <a:avLst/>
          </a:prstGeom>
          <a:solidFill>
            <a:srgbClr val="EEF5FC"/>
          </a:solidFill>
          <a:ln w="12700">
            <a:solidFill>
              <a:srgbClr val="D9E2EC"/>
            </a:solidFill>
          </a:ln>
        </p:spPr>
        <p:txBody>
          <a:bodyPr wrap="square" anchor="t" lIns="76200" tIns="76200" rIns="76200" bIns="76200"/>
          <a:lstStyle/>
          <a:p>
            <a:pPr algn="l" marL="0" indent="0">
              <a:spcBef>
                <a:spcPts val="0"/>
              </a:spcBef>
            </a:pPr>
            <a:r>
              <a:rPr lang="en-US" sz="1250">
                <a:solidFill>
                  <a:srgbClr val="172536"/>
                </a:solidFill>
                <a:latin typeface="Arial"/>
                <a:ea typeface="Arial"/>
                <a:cs typeface="Arial"/>
              </a:rPr>
              <a:t>Shared backbone: common source controls, privacy rules, evidence chain, exports, training cadence, and executive decision queue.</a:t>
            </a:r>
          </a:p>
        </p:txBody>
      </p:sp>
      <p:sp>
        <p:nvSpPr>
          <p:cNvPr id="800" name="footer"/>
          <p:cNvSpPr txBox="1"/>
          <p:nvPr/>
        </p:nvSpPr>
        <p:spPr>
          <a:xfrm>
            <a:off x="585216" y="6473952"/>
            <a:ext cx="813816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850">
                <a:solidFill>
                  <a:srgbClr val="5C6F82"/>
                </a:solidFill>
                <a:latin typeface="Arial"/>
                <a:ea typeface="Arial"/>
                <a:cs typeface="Arial"/>
              </a:rPr>
              <a:t>Public-source prototype. CRM, survey, accessibility, passenger, and PNE relationship records require approved internal systems and governance controls.</a:t>
            </a:r>
          </a:p>
        </p:txBody>
      </p:sp>
      <p:sp>
        <p:nvSpPr>
          <p:cNvPr id="801" name="slide-number"/>
          <p:cNvSpPr txBox="1"/>
          <p:nvPr/>
        </p:nvSpPr>
        <p:spPr>
          <a:xfrm>
            <a:off x="10835640" y="647395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 marL="0" indent="0">
              <a:spcBef>
                <a:spcPts val="0"/>
              </a:spcBef>
            </a:pPr>
            <a:r>
              <a:rPr lang="en-US" sz="900" b="1">
                <a:solidFill>
                  <a:srgbClr val="5C6F82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service-bar"/>
          <p:cNvSpPr/>
          <p:nvPr/>
        </p:nvSpPr>
        <p:spPr>
          <a:xfrm>
            <a:off x="0" y="0"/>
            <a:ext cx="12191695" cy="420624"/>
          </a:xfrm>
          <a:prstGeom prst="rect">
            <a:avLst/>
          </a:prstGeom>
          <a:solidFill>
            <a:srgbClr val="0F3B63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gold-bar"/>
          <p:cNvSpPr/>
          <p:nvPr/>
        </p:nvSpPr>
        <p:spPr>
          <a:xfrm>
            <a:off x="0" y="0"/>
            <a:ext cx="109728" cy="420624"/>
          </a:xfrm>
          <a:prstGeom prst="rect">
            <a:avLst/>
          </a:prstGeom>
          <a:solidFill>
            <a:srgbClr val="F3C613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agency"/>
          <p:cNvSpPr txBox="1"/>
          <p:nvPr/>
        </p:nvSpPr>
        <p:spPr>
          <a:xfrm>
            <a:off x="256032" y="73152"/>
            <a:ext cx="530352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City of Philadelphia / Department of Aviation</a:t>
            </a:r>
          </a:p>
        </p:txBody>
      </p:sp>
      <p:sp>
        <p:nvSpPr>
          <p:cNvPr id="5" name="eyebrow"/>
          <p:cNvSpPr txBox="1"/>
          <p:nvPr/>
        </p:nvSpPr>
        <p:spPr>
          <a:xfrm>
            <a:off x="8229600" y="73152"/>
            <a:ext cx="356616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 marL="0" indent="0">
              <a:spcBef>
                <a:spcPts val="0"/>
              </a:spcBef>
            </a:pPr>
            <a:r>
              <a:rPr lang="en-US" sz="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ROADMAP AND DECISIONS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566928" y="713232"/>
            <a:ext cx="10881360" cy="43891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2650" b="1">
                <a:solidFill>
                  <a:srgbClr val="0F3B63"/>
                </a:solidFill>
                <a:latin typeface="Arial"/>
                <a:ea typeface="Arial"/>
                <a:cs typeface="Arial"/>
              </a:rPr>
              <a:t>The Dashboard Story Ends With Choices</a:t>
            </a:r>
          </a:p>
        </p:txBody>
      </p:sp>
      <p:sp>
        <p:nvSpPr>
          <p:cNvPr id="7" name="subtitle"/>
          <p:cNvSpPr txBox="1"/>
          <p:nvPr/>
        </p:nvSpPr>
        <p:spPr>
          <a:xfrm>
            <a:off x="585216" y="1152144"/>
            <a:ext cx="105613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1250">
                <a:solidFill>
                  <a:srgbClr val="5C6F82"/>
                </a:solidFill>
                <a:latin typeface="Arial"/>
                <a:ea typeface="Arial"/>
                <a:cs typeface="Arial"/>
              </a:rPr>
              <a:t>The 90-day plan organizes source trust, taxonomy, privacy controls, prototype reporting, stakeholder adoption, and responsible AI-assisted analysis.</a:t>
            </a:r>
          </a:p>
        </p:txBody>
      </p:sp>
      <p:sp>
        <p:nvSpPr>
          <p:cNvPr id="20" name="road 0"/>
          <p:cNvSpPr/>
          <p:nvPr/>
        </p:nvSpPr>
        <p:spPr>
          <a:xfrm>
            <a:off x="594360" y="1874519"/>
            <a:ext cx="162763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/>
          <a:lstStyle/>
          <a:p/>
        </p:txBody>
      </p:sp>
      <p:sp>
        <p:nvSpPr>
          <p:cNvPr id="21" name="road top 0"/>
          <p:cNvSpPr/>
          <p:nvPr/>
        </p:nvSpPr>
        <p:spPr>
          <a:xfrm>
            <a:off x="594360" y="1874519"/>
            <a:ext cx="1627632" cy="73152"/>
          </a:xfrm>
          <a:prstGeom prst="rect">
            <a:avLst/>
          </a:prstGeom>
          <a:solidFill>
            <a:srgbClr val="B765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road text 0"/>
          <p:cNvSpPr txBox="1"/>
          <p:nvPr/>
        </p:nvSpPr>
        <p:spPr>
          <a:xfrm>
            <a:off x="667512" y="1993392"/>
            <a:ext cx="1481328" cy="1143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850">
                <a:solidFill>
                  <a:srgbClr val="172536"/>
                </a:solidFill>
                <a:latin typeface="Arial"/>
                <a:ea typeface="Arial"/>
                <a:cs typeface="Arial"/>
              </a:rPr>
              <a:t>Days 1-15</a:t>
            </a:r>
          </a:p>
          <a:p>
            <a:pPr algn="l" marL="0" indent="0">
              <a:spcBef>
                <a:spcPts val="600"/>
              </a:spcBef>
            </a:pPr>
            <a:r>
              <a:rPr lang="en-US" sz="850">
                <a:solidFill>
                  <a:srgbClr val="172536"/>
                </a:solidFill>
                <a:latin typeface="Arial"/>
                <a:ea typeface="Arial"/>
                <a:cs typeface="Arial"/>
              </a:rPr>
              <a:t>Inventory</a:t>
            </a:r>
          </a:p>
          <a:p>
            <a:pPr algn="l" marL="0" indent="0">
              <a:spcBef>
                <a:spcPts val="600"/>
              </a:spcBef>
            </a:pPr>
            <a:r>
              <a:rPr lang="en-US" sz="850">
                <a:solidFill>
                  <a:srgbClr val="172536"/>
                </a:solidFill>
                <a:latin typeface="Arial"/>
                <a:ea typeface="Arial"/>
                <a:cs typeface="Arial"/>
              </a:rPr>
              <a:t>Map CRM, surveys, digital, accessibility, ops context, PNE records.</a:t>
            </a:r>
          </a:p>
        </p:txBody>
      </p:sp>
      <p:sp>
        <p:nvSpPr>
          <p:cNvPr id="23" name="road 1"/>
          <p:cNvSpPr/>
          <p:nvPr/>
        </p:nvSpPr>
        <p:spPr>
          <a:xfrm>
            <a:off x="2496312" y="1874519"/>
            <a:ext cx="162763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/>
          <a:lstStyle/>
          <a:p/>
        </p:txBody>
      </p:sp>
      <p:sp>
        <p:nvSpPr>
          <p:cNvPr id="24" name="road top 1"/>
          <p:cNvSpPr/>
          <p:nvPr/>
        </p:nvSpPr>
        <p:spPr>
          <a:xfrm>
            <a:off x="2496312" y="1874519"/>
            <a:ext cx="1627632" cy="73152"/>
          </a:xfrm>
          <a:prstGeom prst="rect">
            <a:avLst/>
          </a:prstGeom>
          <a:solidFill>
            <a:srgbClr val="B765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road text 1"/>
          <p:cNvSpPr txBox="1"/>
          <p:nvPr/>
        </p:nvSpPr>
        <p:spPr>
          <a:xfrm>
            <a:off x="2569464" y="1993392"/>
            <a:ext cx="1481328" cy="1143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850">
                <a:solidFill>
                  <a:srgbClr val="172536"/>
                </a:solidFill>
                <a:latin typeface="Arial"/>
                <a:ea typeface="Arial"/>
                <a:cs typeface="Arial"/>
              </a:rPr>
              <a:t>Days 16-30</a:t>
            </a:r>
          </a:p>
          <a:p>
            <a:pPr algn="l" marL="0" indent="0">
              <a:spcBef>
                <a:spcPts val="600"/>
              </a:spcBef>
            </a:pPr>
            <a:r>
              <a:rPr lang="en-US" sz="850">
                <a:solidFill>
                  <a:srgbClr val="172536"/>
                </a:solidFill>
                <a:latin typeface="Arial"/>
                <a:ea typeface="Arial"/>
                <a:cs typeface="Arial"/>
              </a:rPr>
              <a:t>Taxonomy</a:t>
            </a:r>
          </a:p>
          <a:p>
            <a:pPr algn="l" marL="0" indent="0">
              <a:spcBef>
                <a:spcPts val="600"/>
              </a:spcBef>
            </a:pPr>
            <a:r>
              <a:rPr lang="en-US" sz="850">
                <a:solidFill>
                  <a:srgbClr val="172536"/>
                </a:solidFill>
                <a:latin typeface="Arial"/>
                <a:ea typeface="Arial"/>
                <a:cs typeface="Arial"/>
              </a:rPr>
              <a:t>Define journey stage, theme, severity, owner, outcome.</a:t>
            </a:r>
          </a:p>
        </p:txBody>
      </p:sp>
      <p:sp>
        <p:nvSpPr>
          <p:cNvPr id="26" name="road 2"/>
          <p:cNvSpPr/>
          <p:nvPr/>
        </p:nvSpPr>
        <p:spPr>
          <a:xfrm>
            <a:off x="4398264" y="1874519"/>
            <a:ext cx="162763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/>
          <a:lstStyle/>
          <a:p/>
        </p:txBody>
      </p:sp>
      <p:sp>
        <p:nvSpPr>
          <p:cNvPr id="27" name="road top 2"/>
          <p:cNvSpPr/>
          <p:nvPr/>
        </p:nvSpPr>
        <p:spPr>
          <a:xfrm>
            <a:off x="4398264" y="1874519"/>
            <a:ext cx="1627632" cy="73152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road text 2"/>
          <p:cNvSpPr txBox="1"/>
          <p:nvPr/>
        </p:nvSpPr>
        <p:spPr>
          <a:xfrm>
            <a:off x="4471416" y="1993392"/>
            <a:ext cx="1481328" cy="1143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850">
                <a:solidFill>
                  <a:srgbClr val="172536"/>
                </a:solidFill>
                <a:latin typeface="Arial"/>
                <a:ea typeface="Arial"/>
                <a:cs typeface="Arial"/>
              </a:rPr>
              <a:t>Days 31-45</a:t>
            </a:r>
          </a:p>
          <a:p>
            <a:pPr algn="l" marL="0" indent="0">
              <a:spcBef>
                <a:spcPts val="600"/>
              </a:spcBef>
            </a:pPr>
            <a:r>
              <a:rPr lang="en-US" sz="850">
                <a:solidFill>
                  <a:srgbClr val="172536"/>
                </a:solidFill>
                <a:latin typeface="Arial"/>
                <a:ea typeface="Arial"/>
                <a:cs typeface="Arial"/>
              </a:rPr>
              <a:t>Controls</a:t>
            </a:r>
          </a:p>
          <a:p>
            <a:pPr algn="l" marL="0" indent="0">
              <a:spcBef>
                <a:spcPts val="600"/>
              </a:spcBef>
            </a:pPr>
            <a:r>
              <a:rPr lang="en-US" sz="850">
                <a:solidFill>
                  <a:srgbClr val="172536"/>
                </a:solidFill>
                <a:latin typeface="Arial"/>
                <a:ea typeface="Arial"/>
                <a:cs typeface="Arial"/>
              </a:rPr>
              <a:t>Set PII, restricted records, retention, lineage, quality scoring.</a:t>
            </a:r>
          </a:p>
        </p:txBody>
      </p:sp>
      <p:sp>
        <p:nvSpPr>
          <p:cNvPr id="29" name="road 3"/>
          <p:cNvSpPr/>
          <p:nvPr/>
        </p:nvSpPr>
        <p:spPr>
          <a:xfrm>
            <a:off x="6300216" y="1874519"/>
            <a:ext cx="162763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/>
          <a:lstStyle/>
          <a:p/>
        </p:txBody>
      </p:sp>
      <p:sp>
        <p:nvSpPr>
          <p:cNvPr id="30" name="road top 3"/>
          <p:cNvSpPr/>
          <p:nvPr/>
        </p:nvSpPr>
        <p:spPr>
          <a:xfrm>
            <a:off x="6300216" y="1874519"/>
            <a:ext cx="1627632" cy="73152"/>
          </a:xfrm>
          <a:prstGeom prst="rect">
            <a:avLst/>
          </a:prstGeom>
          <a:solidFill>
            <a:srgbClr val="25805A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road text 3"/>
          <p:cNvSpPr txBox="1"/>
          <p:nvPr/>
        </p:nvSpPr>
        <p:spPr>
          <a:xfrm>
            <a:off x="6373368" y="1993392"/>
            <a:ext cx="1481328" cy="1143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850">
                <a:solidFill>
                  <a:srgbClr val="172536"/>
                </a:solidFill>
                <a:latin typeface="Arial"/>
                <a:ea typeface="Arial"/>
                <a:cs typeface="Arial"/>
              </a:rPr>
              <a:t>Days 46-60</a:t>
            </a:r>
          </a:p>
          <a:p>
            <a:pPr algn="l" marL="0" indent="0">
              <a:spcBef>
                <a:spcPts val="600"/>
              </a:spcBef>
            </a:pPr>
            <a:r>
              <a:rPr lang="en-US" sz="850">
                <a:solidFill>
                  <a:srgbClr val="172536"/>
                </a:solidFill>
                <a:latin typeface="Arial"/>
                <a:ea typeface="Arial"/>
                <a:cs typeface="Arial"/>
              </a:rPr>
              <a:t>Prototype</a:t>
            </a:r>
          </a:p>
          <a:p>
            <a:pPr algn="l" marL="0" indent="0">
              <a:spcBef>
                <a:spcPts val="600"/>
              </a:spcBef>
            </a:pPr>
            <a:r>
              <a:rPr lang="en-US" sz="850">
                <a:solidFill>
                  <a:srgbClr val="172536"/>
                </a:solidFill>
                <a:latin typeface="Arial"/>
                <a:ea typeface="Arial"/>
                <a:cs typeface="Arial"/>
              </a:rPr>
              <a:t>Publish cockpit, feedback, program, governance reports.</a:t>
            </a:r>
          </a:p>
        </p:txBody>
      </p:sp>
      <p:sp>
        <p:nvSpPr>
          <p:cNvPr id="32" name="road 4"/>
          <p:cNvSpPr/>
          <p:nvPr/>
        </p:nvSpPr>
        <p:spPr>
          <a:xfrm>
            <a:off x="8202168" y="1874519"/>
            <a:ext cx="162763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/>
          <a:lstStyle/>
          <a:p/>
        </p:txBody>
      </p:sp>
      <p:sp>
        <p:nvSpPr>
          <p:cNvPr id="33" name="road top 4"/>
          <p:cNvSpPr/>
          <p:nvPr/>
        </p:nvSpPr>
        <p:spPr>
          <a:xfrm>
            <a:off x="8202168" y="1874519"/>
            <a:ext cx="1627632" cy="73152"/>
          </a:xfrm>
          <a:prstGeom prst="rect">
            <a:avLst/>
          </a:prstGeom>
          <a:solidFill>
            <a:srgbClr val="B765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road text 4"/>
          <p:cNvSpPr txBox="1"/>
          <p:nvPr/>
        </p:nvSpPr>
        <p:spPr>
          <a:xfrm>
            <a:off x="8275320" y="1993392"/>
            <a:ext cx="1481328" cy="1143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850">
                <a:solidFill>
                  <a:srgbClr val="172536"/>
                </a:solidFill>
                <a:latin typeface="Arial"/>
                <a:ea typeface="Arial"/>
                <a:cs typeface="Arial"/>
              </a:rPr>
              <a:t>Days 61-75</a:t>
            </a:r>
          </a:p>
          <a:p>
            <a:pPr algn="l" marL="0" indent="0">
              <a:spcBef>
                <a:spcPts val="600"/>
              </a:spcBef>
            </a:pPr>
            <a:r>
              <a:rPr lang="en-US" sz="850">
                <a:solidFill>
                  <a:srgbClr val="172536"/>
                </a:solidFill>
                <a:latin typeface="Arial"/>
                <a:ea typeface="Arial"/>
                <a:cs typeface="Arial"/>
              </a:rPr>
              <a:t>Adoption</a:t>
            </a:r>
          </a:p>
          <a:p>
            <a:pPr algn="l" marL="0" indent="0">
              <a:spcBef>
                <a:spcPts val="600"/>
              </a:spcBef>
            </a:pPr>
            <a:r>
              <a:rPr lang="en-US" sz="850">
                <a:solidFill>
                  <a:srgbClr val="172536"/>
                </a:solidFill>
                <a:latin typeface="Arial"/>
                <a:ea typeface="Arial"/>
                <a:cs typeface="Arial"/>
              </a:rPr>
              <a:t>Train stakeholders on templates, issue taxonomy, escalation.</a:t>
            </a:r>
          </a:p>
        </p:txBody>
      </p:sp>
      <p:sp>
        <p:nvSpPr>
          <p:cNvPr id="35" name="road 5"/>
          <p:cNvSpPr/>
          <p:nvPr/>
        </p:nvSpPr>
        <p:spPr>
          <a:xfrm>
            <a:off x="10104120" y="1874519"/>
            <a:ext cx="162763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/>
          <a:lstStyle/>
          <a:p/>
        </p:txBody>
      </p:sp>
      <p:sp>
        <p:nvSpPr>
          <p:cNvPr id="36" name="road top 5"/>
          <p:cNvSpPr/>
          <p:nvPr/>
        </p:nvSpPr>
        <p:spPr>
          <a:xfrm>
            <a:off x="10104120" y="1874519"/>
            <a:ext cx="1627632" cy="73152"/>
          </a:xfrm>
          <a:prstGeom prst="rect">
            <a:avLst/>
          </a:prstGeom>
          <a:solidFill>
            <a:srgbClr val="B765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road text 5"/>
          <p:cNvSpPr txBox="1"/>
          <p:nvPr/>
        </p:nvSpPr>
        <p:spPr>
          <a:xfrm>
            <a:off x="10177272" y="1993392"/>
            <a:ext cx="1481328" cy="1143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850">
                <a:solidFill>
                  <a:srgbClr val="172536"/>
                </a:solidFill>
                <a:latin typeface="Arial"/>
                <a:ea typeface="Arial"/>
                <a:cs typeface="Arial"/>
              </a:rPr>
              <a:t>Days 76-90</a:t>
            </a:r>
          </a:p>
          <a:p>
            <a:pPr algn="l" marL="0" indent="0">
              <a:spcBef>
                <a:spcPts val="600"/>
              </a:spcBef>
            </a:pPr>
            <a:r>
              <a:rPr lang="en-US" sz="850">
                <a:solidFill>
                  <a:srgbClr val="172536"/>
                </a:solidFill>
                <a:latin typeface="Arial"/>
                <a:ea typeface="Arial"/>
                <a:cs typeface="Arial"/>
              </a:rPr>
              <a:t>Scale</a:t>
            </a:r>
          </a:p>
          <a:p>
            <a:pPr algn="l" marL="0" indent="0">
              <a:spcBef>
                <a:spcPts val="600"/>
              </a:spcBef>
            </a:pPr>
            <a:r>
              <a:rPr lang="en-US" sz="850">
                <a:solidFill>
                  <a:srgbClr val="172536"/>
                </a:solidFill>
                <a:latin typeface="Arial"/>
                <a:ea typeface="Arial"/>
                <a:cs typeface="Arial"/>
              </a:rPr>
              <a:t>Prioritize automation and AI-assisted theme detection with review.</a:t>
            </a:r>
          </a:p>
        </p:txBody>
      </p:sp>
      <p:sp>
        <p:nvSpPr>
          <p:cNvPr id="38" name="First production source bg"/>
          <p:cNvSpPr/>
          <p:nvPr/>
        </p:nvSpPr>
        <p:spPr>
          <a:xfrm>
            <a:off x="658368" y="3950208"/>
            <a:ext cx="333756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/>
          <a:lstStyle/>
          <a:p/>
        </p:txBody>
      </p:sp>
      <p:sp>
        <p:nvSpPr>
          <p:cNvPr id="39" name="First production source top"/>
          <p:cNvSpPr/>
          <p:nvPr/>
        </p:nvSpPr>
        <p:spPr>
          <a:xfrm>
            <a:off x="658368" y="3950208"/>
            <a:ext cx="3337560" cy="73152"/>
          </a:xfrm>
          <a:prstGeom prst="rect">
            <a:avLst/>
          </a:prstGeom>
          <a:solidFill>
            <a:srgbClr val="0F4D90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First production source text"/>
          <p:cNvSpPr txBox="1"/>
          <p:nvPr/>
        </p:nvSpPr>
        <p:spPr>
          <a:xfrm>
            <a:off x="704088" y="3986784"/>
            <a:ext cx="324612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60960" tIns="60960" rIns="60960" bIns="60960"/>
          <a:lstStyle/>
          <a:p>
            <a:pPr algn="l" marL="0" indent="0">
              <a:spcBef>
                <a:spcPts val="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EXECUTIVE DECISION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First production source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CRM case feed with minimum fields and sensitive-note suppression.</a:t>
            </a:r>
          </a:p>
        </p:txBody>
      </p:sp>
      <p:sp>
        <p:nvSpPr>
          <p:cNvPr id="41" name="First privacy decision bg"/>
          <p:cNvSpPr/>
          <p:nvPr/>
        </p:nvSpPr>
        <p:spPr>
          <a:xfrm>
            <a:off x="4361688" y="3950208"/>
            <a:ext cx="333756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/>
          <a:lstStyle/>
          <a:p/>
        </p:txBody>
      </p:sp>
      <p:sp>
        <p:nvSpPr>
          <p:cNvPr id="42" name="First privacy decision top"/>
          <p:cNvSpPr/>
          <p:nvPr/>
        </p:nvSpPr>
        <p:spPr>
          <a:xfrm>
            <a:off x="4361688" y="3950208"/>
            <a:ext cx="3337560" cy="73152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First privacy decision text"/>
          <p:cNvSpPr txBox="1"/>
          <p:nvPr/>
        </p:nvSpPr>
        <p:spPr>
          <a:xfrm>
            <a:off x="4407407" y="3986784"/>
            <a:ext cx="324612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60960" tIns="60960" rIns="60960" bIns="60960"/>
          <a:lstStyle/>
          <a:p>
            <a:pPr algn="l" marL="0" indent="0">
              <a:spcBef>
                <a:spcPts val="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EXECUTIVE DECISION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First privacy decision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Accessibility trend lane with restricted detail and anonymized reporting.</a:t>
            </a:r>
          </a:p>
        </p:txBody>
      </p:sp>
      <p:sp>
        <p:nvSpPr>
          <p:cNvPr id="44" name="First adoption move bg"/>
          <p:cNvSpPr/>
          <p:nvPr/>
        </p:nvSpPr>
        <p:spPr>
          <a:xfrm>
            <a:off x="8065008" y="3950208"/>
            <a:ext cx="333756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txBody>
          <a:bodyPr/>
          <a:lstStyle/>
          <a:p/>
        </p:txBody>
      </p:sp>
      <p:sp>
        <p:nvSpPr>
          <p:cNvPr id="45" name="First adoption move top"/>
          <p:cNvSpPr/>
          <p:nvPr/>
        </p:nvSpPr>
        <p:spPr>
          <a:xfrm>
            <a:off x="8065008" y="3950208"/>
            <a:ext cx="3337560" cy="73152"/>
          </a:xfrm>
          <a:prstGeom prst="rect">
            <a:avLst/>
          </a:prstGeom>
          <a:solidFill>
            <a:srgbClr val="B76500"/>
          </a:solidFill>
          <a:ln>
            <a:noFill/>
          </a:ln>
        </p:spPr>
        <p:txBody>
          <a:bodyPr/>
          <a:lstStyle/>
          <a:p/>
        </p:txBody>
      </p:sp>
      <p:sp>
        <p:nvSpPr>
          <p:cNvPr id="46" name="First adoption move text"/>
          <p:cNvSpPr txBox="1"/>
          <p:nvPr/>
        </p:nvSpPr>
        <p:spPr>
          <a:xfrm>
            <a:off x="8110728" y="3986784"/>
            <a:ext cx="324612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60960" tIns="60960" rIns="60960" bIns="60960"/>
          <a:lstStyle/>
          <a:p>
            <a:pPr algn="l" marL="0" indent="0">
              <a:spcBef>
                <a:spcPts val="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EXECUTIVE DECISION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First adoption move</a:t>
            </a:r>
          </a:p>
          <a:p>
            <a:pPr algn="l" marL="0" indent="0">
              <a:spcBef>
                <a:spcPts val="600"/>
              </a:spcBef>
            </a:pPr>
            <a:r>
              <a:rPr lang="en-US" sz="1200">
                <a:solidFill>
                  <a:srgbClr val="172536"/>
                </a:solidFill>
                <a:latin typeface="Arial"/>
                <a:ea typeface="Arial"/>
                <a:cs typeface="Arial"/>
              </a:rPr>
              <a:t>Shared taxonomy and template training before large-scale automation.</a:t>
            </a:r>
          </a:p>
        </p:txBody>
      </p:sp>
      <p:sp>
        <p:nvSpPr>
          <p:cNvPr id="47" name="close"/>
          <p:cNvSpPr txBox="1"/>
          <p:nvPr/>
        </p:nvSpPr>
        <p:spPr>
          <a:xfrm>
            <a:off x="658368" y="5321808"/>
            <a:ext cx="10716768" cy="310896"/>
          </a:xfrm>
          <a:prstGeom prst="rect">
            <a:avLst/>
          </a:prstGeom>
          <a:solidFill>
            <a:srgbClr val="E8F5EE"/>
          </a:solidFill>
          <a:ln w="12700">
            <a:solidFill>
              <a:srgbClr val="D9E2EC"/>
            </a:solidFill>
          </a:ln>
        </p:spPr>
        <p:txBody>
          <a:bodyPr wrap="square" anchor="t" lIns="76200" tIns="76200" rIns="76200" bIns="76200"/>
          <a:lstStyle/>
          <a:p>
            <a:pPr algn="l" marL="0" indent="0">
              <a:spcBef>
                <a:spcPts val="0"/>
              </a:spcBef>
            </a:pPr>
            <a:r>
              <a:rPr lang="en-US" sz="1050">
                <a:solidFill>
                  <a:srgbClr val="172536"/>
                </a:solidFill>
                <a:latin typeface="Arial"/>
                <a:ea typeface="Arial"/>
                <a:cs typeface="Arial"/>
              </a:rPr>
              <a:t>Briefing takeaway: the revised dashboard shows a feasible CRM analytics pathway from public evidence to governed data feeds, predictive signals, and accountable passenger experience improvements.</a:t>
            </a:r>
          </a:p>
        </p:txBody>
      </p:sp>
      <p:sp>
        <p:nvSpPr>
          <p:cNvPr id="800" name="footer"/>
          <p:cNvSpPr txBox="1"/>
          <p:nvPr/>
        </p:nvSpPr>
        <p:spPr>
          <a:xfrm>
            <a:off x="585216" y="6473952"/>
            <a:ext cx="813816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 marL="0" indent="0">
              <a:spcBef>
                <a:spcPts val="0"/>
              </a:spcBef>
            </a:pPr>
            <a:r>
              <a:rPr lang="en-US" sz="850">
                <a:solidFill>
                  <a:srgbClr val="5C6F82"/>
                </a:solidFill>
                <a:latin typeface="Arial"/>
                <a:ea typeface="Arial"/>
                <a:cs typeface="Arial"/>
              </a:rPr>
              <a:t>Public-source prototype. CRM, survey, accessibility, passenger, and PNE relationship records require approved internal systems and governance controls.</a:t>
            </a:r>
          </a:p>
        </p:txBody>
      </p:sp>
      <p:sp>
        <p:nvSpPr>
          <p:cNvPr id="801" name="slide-number"/>
          <p:cNvSpPr txBox="1"/>
          <p:nvPr/>
        </p:nvSpPr>
        <p:spPr>
          <a:xfrm>
            <a:off x="10835640" y="647395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 marL="0" indent="0">
              <a:spcBef>
                <a:spcPts val="0"/>
              </a:spcBef>
            </a:pPr>
            <a:r>
              <a:rPr lang="en-US" sz="900" b="1">
                <a:solidFill>
                  <a:srgbClr val="5C6F82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 OpenXML</Application>
  <PresentationFormat>On-screen Show (16:9)</PresentationFormat>
  <Slides>10</Slides>
  <Notes>0</Notes>
  <HiddenSlides>0</HiddenSlides>
  <MMClips>0</MMClips>
  <ScaleCrop>false</ScaleCrop>
  <Company>City of Philadelphia / Department of Aviation prototype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PHL + PNE CRM Passenger Insights Executive Briefing</dc:title>
  <dc:subject>CRM, passenger intelligence, KPI framework, segmentation, forecasting, governance</dc:subject>
  <dc:creator>Codex</dc:creator>
  <cp:lastModifiedBy>Codex</cp:lastModifiedBy>
  <dcterms:created xsi:type="dcterms:W3CDTF">2026-06-19T02:46:07Z</dcterms:created>
  <dcterms:modified xsi:type="dcterms:W3CDTF">2026-06-19T02:46:07Z</dcterms:modified>
</cp:coreProperties>
</file>